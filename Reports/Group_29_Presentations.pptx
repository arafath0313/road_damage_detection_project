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al Bold" charset="1" panose="020B0704020202020204"/>
      <p:regular r:id="rId21"/>
    </p:embeddedFont>
    <p:embeddedFont>
      <p:font typeface="Calibri (MS)" charset="1" panose="020F0502020204030204"/>
      <p:regular r:id="rId22"/>
    </p:embeddedFont>
    <p:embeddedFont>
      <p:font typeface="Arial" charset="1" panose="020B0604020202020204"/>
      <p:regular r:id="rId23"/>
    </p:embeddedFont>
    <p:embeddedFont>
      <p:font typeface="Calibri (MS) Bold" charset="1" panose="020F0702030404030204"/>
      <p:regular r:id="rId24"/>
    </p:embeddedFont>
    <p:embeddedFont>
      <p:font typeface="Calibri (MS) Italics" charset="1" panose="020F05020202040A0204"/>
      <p:regular r:id="rId25"/>
    </p:embeddedFont>
    <p:embeddedFont>
      <p:font typeface="Archivo Black" charset="1" panose="020B0A03020202020B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03311">
            <a:off x="-5151925" y="-5885258"/>
            <a:ext cx="25750310" cy="18897269"/>
          </a:xfrm>
          <a:custGeom>
            <a:avLst/>
            <a:gdLst/>
            <a:ahLst/>
            <a:cxnLst/>
            <a:rect r="r" b="b" t="t" l="l"/>
            <a:pathLst>
              <a:path h="18897269" w="25750310">
                <a:moveTo>
                  <a:pt x="0" y="0"/>
                </a:moveTo>
                <a:lnTo>
                  <a:pt x="25750310" y="0"/>
                </a:lnTo>
                <a:lnTo>
                  <a:pt x="25750310" y="18897269"/>
                </a:lnTo>
                <a:lnTo>
                  <a:pt x="0" y="18897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10" t="0" r="-14010" b="-1026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28750" y="2524824"/>
            <a:ext cx="15430500" cy="2893219"/>
            <a:chOff x="0" y="0"/>
            <a:chExt cx="19507200" cy="3657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07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507200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ROAD DAMAGE</a:t>
              </a:r>
            </a:p>
            <a:p>
              <a:pPr algn="ctr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DETECTION PROJECT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28800" y="5663969"/>
            <a:ext cx="14630400" cy="731520"/>
            <a:chOff x="0" y="0"/>
            <a:chExt cx="19507200" cy="975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0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95072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ICT-2403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445277" y="7589880"/>
            <a:ext cx="7249913" cy="166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1884" spc="3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M.I.M ARAFATH - ICT/2023/142 -</a:t>
            </a:r>
            <a:r>
              <a:rPr lang="en-US" sz="1884" spc="3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6119</a:t>
            </a:r>
          </a:p>
          <a:p>
            <a:pPr algn="l">
              <a:lnSpc>
                <a:spcPts val="3373"/>
              </a:lnSpc>
            </a:pPr>
            <a:r>
              <a:rPr lang="en-US" sz="1884" spc="3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M.I.F ILMA - ICT/2023/146 - 6336</a:t>
            </a:r>
          </a:p>
          <a:p>
            <a:pPr algn="l">
              <a:lnSpc>
                <a:spcPts val="3373"/>
              </a:lnSpc>
            </a:pPr>
            <a:r>
              <a:rPr lang="en-US" sz="1884" spc="3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K. IFFATH - ICT/2023/145 - 6121</a:t>
            </a:r>
          </a:p>
          <a:p>
            <a:pPr algn="l">
              <a:lnSpc>
                <a:spcPts val="3373"/>
              </a:lnSpc>
            </a:pPr>
            <a:r>
              <a:rPr lang="en-US" sz="1884" spc="37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B.G.N.D.N. KUMARI - ICT/2023/141 - 6118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28189" y="8481872"/>
            <a:ext cx="160948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GROUP 29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28750" y="8500641"/>
            <a:ext cx="696698" cy="505106"/>
          </a:xfrm>
          <a:custGeom>
            <a:avLst/>
            <a:gdLst/>
            <a:ahLst/>
            <a:cxnLst/>
            <a:rect r="r" b="b" t="t" l="l"/>
            <a:pathLst>
              <a:path h="505106" w="696698">
                <a:moveTo>
                  <a:pt x="0" y="0"/>
                </a:moveTo>
                <a:lnTo>
                  <a:pt x="696698" y="0"/>
                </a:lnTo>
                <a:lnTo>
                  <a:pt x="696698" y="505106"/>
                </a:lnTo>
                <a:lnTo>
                  <a:pt x="0" y="505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28800"/>
            <a:chOff x="0" y="0"/>
            <a:chExt cx="2438400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57200"/>
            <a:ext cx="16459200" cy="914400"/>
            <a:chOff x="0" y="0"/>
            <a:chExt cx="219456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TABLE OF CONTENTS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743200"/>
            <a:ext cx="731520" cy="731520"/>
            <a:chOff x="0" y="0"/>
            <a:chExt cx="97536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2743200"/>
            <a:ext cx="731520" cy="731520"/>
            <a:chOff x="0" y="0"/>
            <a:chExt cx="97536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9753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28800" y="2743200"/>
            <a:ext cx="7315200" cy="731520"/>
            <a:chOff x="0" y="0"/>
            <a:chExt cx="975360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753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Introduction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58400" y="2743200"/>
            <a:ext cx="731520" cy="731520"/>
            <a:chOff x="0" y="0"/>
            <a:chExt cx="97536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058400" y="2743200"/>
            <a:ext cx="731520" cy="731520"/>
            <a:chOff x="0" y="0"/>
            <a:chExt cx="97536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9753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0" y="2743200"/>
            <a:ext cx="7315200" cy="731520"/>
            <a:chOff x="0" y="0"/>
            <a:chExt cx="975360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9753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</a:t>
              </a: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bjectives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3749040"/>
            <a:ext cx="731520" cy="731520"/>
            <a:chOff x="0" y="0"/>
            <a:chExt cx="975360" cy="975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" y="3749040"/>
            <a:ext cx="731520" cy="731520"/>
            <a:chOff x="0" y="0"/>
            <a:chExt cx="97536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9753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28800" y="3749040"/>
            <a:ext cx="7315200" cy="731520"/>
            <a:chOff x="0" y="0"/>
            <a:chExt cx="9753600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9753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</a:t>
              </a: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 Acquisition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058400" y="3749040"/>
            <a:ext cx="731520" cy="731520"/>
            <a:chOff x="0" y="0"/>
            <a:chExt cx="975360" cy="975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058400" y="3749040"/>
            <a:ext cx="731520" cy="731520"/>
            <a:chOff x="0" y="0"/>
            <a:chExt cx="97536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9753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972800" y="3749040"/>
            <a:ext cx="7315200" cy="731520"/>
            <a:chOff x="0" y="0"/>
            <a:chExt cx="9753600" cy="975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9753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preparation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14400" y="4754880"/>
            <a:ext cx="731520" cy="731520"/>
            <a:chOff x="0" y="0"/>
            <a:chExt cx="975360" cy="97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4400" y="4754880"/>
            <a:ext cx="731520" cy="731520"/>
            <a:chOff x="0" y="0"/>
            <a:chExt cx="97536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9753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828800" y="4754880"/>
            <a:ext cx="7315200" cy="731520"/>
            <a:chOff x="0" y="0"/>
            <a:chExt cx="975360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9753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Enh</a:t>
              </a: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ancement Process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058400" y="4754880"/>
            <a:ext cx="731520" cy="731520"/>
            <a:chOff x="0" y="0"/>
            <a:chExt cx="975360" cy="975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058400" y="4754880"/>
            <a:ext cx="731520" cy="731520"/>
            <a:chOff x="0" y="0"/>
            <a:chExt cx="975360" cy="975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9753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972800" y="4754880"/>
            <a:ext cx="7315200" cy="731520"/>
            <a:chOff x="0" y="0"/>
            <a:chExt cx="9753600" cy="9753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9753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Enh</a:t>
              </a: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ancement results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14400" y="5760720"/>
            <a:ext cx="731520" cy="731520"/>
            <a:chOff x="0" y="0"/>
            <a:chExt cx="975360" cy="975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14400" y="5760720"/>
            <a:ext cx="731520" cy="731520"/>
            <a:chOff x="0" y="0"/>
            <a:chExt cx="975360" cy="9753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9753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07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828800" y="5760720"/>
            <a:ext cx="7315200" cy="731520"/>
            <a:chOff x="0" y="0"/>
            <a:chExt cx="9753600" cy="9753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9753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</a:t>
              </a: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egmentation Process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058400" y="5760720"/>
            <a:ext cx="731520" cy="731520"/>
            <a:chOff x="0" y="0"/>
            <a:chExt cx="975360" cy="9753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058400" y="5760720"/>
            <a:ext cx="731520" cy="731520"/>
            <a:chOff x="0" y="0"/>
            <a:chExt cx="975360" cy="9753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9753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08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972800" y="5760720"/>
            <a:ext cx="7315200" cy="731520"/>
            <a:chOff x="0" y="0"/>
            <a:chExt cx="9753600" cy="9753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9753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</a:t>
              </a: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egmentation Results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14400" y="6766560"/>
            <a:ext cx="731520" cy="731520"/>
            <a:chOff x="0" y="0"/>
            <a:chExt cx="975360" cy="975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14400" y="6766560"/>
            <a:ext cx="731520" cy="731520"/>
            <a:chOff x="0" y="0"/>
            <a:chExt cx="975360" cy="9753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9753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09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828800" y="6766560"/>
            <a:ext cx="7315200" cy="731520"/>
            <a:chOff x="0" y="0"/>
            <a:chExt cx="9753600" cy="9753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9753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Integration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058400" y="6766560"/>
            <a:ext cx="731520" cy="731520"/>
            <a:chOff x="0" y="0"/>
            <a:chExt cx="975360" cy="9753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0058400" y="6766560"/>
            <a:ext cx="731520" cy="731520"/>
            <a:chOff x="0" y="0"/>
            <a:chExt cx="975360" cy="9753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9753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982325" y="6766560"/>
            <a:ext cx="7315200" cy="731520"/>
            <a:chOff x="0" y="0"/>
            <a:chExt cx="9753600" cy="9753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9753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</a:t>
              </a: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tion Metrics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14400" y="7772400"/>
            <a:ext cx="731520" cy="731520"/>
            <a:chOff x="0" y="0"/>
            <a:chExt cx="975360" cy="9753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14400" y="7772400"/>
            <a:ext cx="731520" cy="731520"/>
            <a:chOff x="0" y="0"/>
            <a:chExt cx="975360" cy="9753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9753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11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828800" y="7772400"/>
            <a:ext cx="7315200" cy="731520"/>
            <a:chOff x="0" y="0"/>
            <a:chExt cx="9753600" cy="9753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57150"/>
              <a:ext cx="9753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Limitations / Challenges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058400" y="7772400"/>
            <a:ext cx="731520" cy="731520"/>
            <a:chOff x="0" y="0"/>
            <a:chExt cx="975360" cy="9753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0058400" y="7772400"/>
            <a:ext cx="731520" cy="731520"/>
            <a:chOff x="0" y="0"/>
            <a:chExt cx="975360" cy="97536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9753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12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0972800" y="7772400"/>
            <a:ext cx="7315200" cy="731520"/>
            <a:chOff x="0" y="0"/>
            <a:chExt cx="9753600" cy="97536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57150"/>
              <a:ext cx="9753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</a:t>
              </a: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onclusion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3657600" cy="146304"/>
            <a:chOff x="0" y="0"/>
            <a:chExt cx="4876800" cy="195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76800" cy="195072"/>
            </a:xfrm>
            <a:custGeom>
              <a:avLst/>
              <a:gdLst/>
              <a:ahLst/>
              <a:cxnLst/>
              <a:rect r="r" b="b" t="t" l="l"/>
              <a:pathLst>
                <a:path h="1950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63040" y="3072384"/>
            <a:ext cx="219456" cy="219456"/>
            <a:chOff x="0" y="0"/>
            <a:chExt cx="292608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011680" y="2926080"/>
            <a:ext cx="10058400" cy="548640"/>
            <a:chOff x="0" y="0"/>
            <a:chExt cx="134112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34112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Road damage is a critical issue in transportation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3895344"/>
            <a:ext cx="219456" cy="219456"/>
            <a:chOff x="0" y="0"/>
            <a:chExt cx="292608" cy="2926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011680" y="3749040"/>
            <a:ext cx="10058400" cy="548640"/>
            <a:chOff x="0" y="0"/>
            <a:chExt cx="13411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34112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Common types: cracks, potholes, surface wear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" y="4718304"/>
            <a:ext cx="219456" cy="219456"/>
            <a:chOff x="0" y="0"/>
            <a:chExt cx="292608" cy="2926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011680" y="4572000"/>
            <a:ext cx="10058400" cy="548640"/>
            <a:chOff x="0" y="0"/>
            <a:chExt cx="134112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34112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Affects safety and vehicle performance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63040" y="5541264"/>
            <a:ext cx="219456" cy="219456"/>
            <a:chOff x="0" y="0"/>
            <a:chExt cx="292608" cy="2926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011680" y="5394960"/>
            <a:ext cx="10058400" cy="548640"/>
            <a:chOff x="0" y="0"/>
            <a:chExt cx="1341120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134112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inspection is slow and costly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63040" y="6364224"/>
            <a:ext cx="219456" cy="219456"/>
            <a:chOff x="0" y="0"/>
            <a:chExt cx="292608" cy="2926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011680" y="6217920"/>
            <a:ext cx="10058400" cy="548640"/>
            <a:chOff x="0" y="0"/>
            <a:chExt cx="134112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34112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Need for automated detection systems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1870148" y="-22860"/>
            <a:ext cx="6417852" cy="10287000"/>
          </a:xfrm>
          <a:custGeom>
            <a:avLst/>
            <a:gdLst/>
            <a:ahLst/>
            <a:cxnLst/>
            <a:rect r="r" b="b" t="t" l="l"/>
            <a:pathLst>
              <a:path h="10287000" w="6417852">
                <a:moveTo>
                  <a:pt x="0" y="0"/>
                </a:moveTo>
                <a:lnTo>
                  <a:pt x="6417852" y="0"/>
                </a:lnTo>
                <a:lnTo>
                  <a:pt x="641785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55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3657600" cy="146304"/>
            <a:chOff x="0" y="0"/>
            <a:chExt cx="4876800" cy="195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76800" cy="195072"/>
            </a:xfrm>
            <a:custGeom>
              <a:avLst/>
              <a:gdLst/>
              <a:ahLst/>
              <a:cxnLst/>
              <a:rect r="r" b="b" t="t" l="l"/>
              <a:pathLst>
                <a:path h="1950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8997" y="2717797"/>
            <a:ext cx="7322761" cy="1662220"/>
            <a:chOff x="0" y="0"/>
            <a:chExt cx="11040529" cy="25061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3909" y="33909"/>
              <a:ext cx="109728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40618" cy="2506218"/>
            </a:xfrm>
            <a:custGeom>
              <a:avLst/>
              <a:gdLst/>
              <a:ahLst/>
              <a:cxnLst/>
              <a:rect r="r" b="b" t="t" l="l"/>
              <a:pathLst>
                <a:path h="2506218" w="11040618">
                  <a:moveTo>
                    <a:pt x="33909" y="0"/>
                  </a:moveTo>
                  <a:lnTo>
                    <a:pt x="11006709" y="0"/>
                  </a:lnTo>
                  <a:cubicBezTo>
                    <a:pt x="11025378" y="0"/>
                    <a:pt x="11040618" y="15113"/>
                    <a:pt x="11040618" y="33909"/>
                  </a:cubicBezTo>
                  <a:lnTo>
                    <a:pt x="11040618" y="2472309"/>
                  </a:lnTo>
                  <a:cubicBezTo>
                    <a:pt x="11040618" y="2490978"/>
                    <a:pt x="11025505" y="2506218"/>
                    <a:pt x="11006709" y="2506218"/>
                  </a:cubicBezTo>
                  <a:lnTo>
                    <a:pt x="33909" y="2506218"/>
                  </a:lnTo>
                  <a:cubicBezTo>
                    <a:pt x="15240" y="2506218"/>
                    <a:pt x="0" y="2491105"/>
                    <a:pt x="0" y="24723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472309"/>
                  </a:lnTo>
                  <a:lnTo>
                    <a:pt x="33909" y="2472309"/>
                  </a:lnTo>
                  <a:lnTo>
                    <a:pt x="33909" y="2438400"/>
                  </a:lnTo>
                  <a:lnTo>
                    <a:pt x="11006709" y="2438400"/>
                  </a:lnTo>
                  <a:lnTo>
                    <a:pt x="11006709" y="2472309"/>
                  </a:lnTo>
                  <a:lnTo>
                    <a:pt x="10972800" y="2472309"/>
                  </a:lnTo>
                  <a:lnTo>
                    <a:pt x="10972800" y="33909"/>
                  </a:lnTo>
                  <a:lnTo>
                    <a:pt x="11006709" y="33909"/>
                  </a:lnTo>
                  <a:lnTo>
                    <a:pt x="110067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0160" y="3017520"/>
            <a:ext cx="7315200" cy="548640"/>
            <a:chOff x="0" y="0"/>
            <a:chExt cx="97536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75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 Objective: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80160" y="3657600"/>
            <a:ext cx="7315200" cy="548640"/>
            <a:chOff x="0" y="0"/>
            <a:chExt cx="97536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753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2D2D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Detect road damage using image processing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8997" y="4795937"/>
            <a:ext cx="8229600" cy="548640"/>
            <a:chOff x="0" y="0"/>
            <a:chExt cx="109728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09728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Specific Objectives: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37637" y="5527457"/>
            <a:ext cx="548640" cy="548640"/>
            <a:chOff x="0" y="0"/>
            <a:chExt cx="73152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37637" y="5527457"/>
            <a:ext cx="548640" cy="548640"/>
            <a:chOff x="0" y="0"/>
            <a:chExt cx="73152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69157" y="5527457"/>
            <a:ext cx="7315200" cy="548640"/>
            <a:chOff x="0" y="0"/>
            <a:chExt cx="975360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9753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Extract frames from road video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37637" y="6350417"/>
            <a:ext cx="548640" cy="548640"/>
            <a:chOff x="0" y="0"/>
            <a:chExt cx="73152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37637" y="6350417"/>
            <a:ext cx="548640" cy="548640"/>
            <a:chOff x="0" y="0"/>
            <a:chExt cx="731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169157" y="6350417"/>
            <a:ext cx="7315200" cy="548640"/>
            <a:chOff x="0" y="0"/>
            <a:chExt cx="97536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9753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Enhance image quality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37637" y="7173377"/>
            <a:ext cx="548640" cy="548640"/>
            <a:chOff x="0" y="0"/>
            <a:chExt cx="73152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37637" y="7173377"/>
            <a:ext cx="548640" cy="548640"/>
            <a:chOff x="0" y="0"/>
            <a:chExt cx="73152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169157" y="7173377"/>
            <a:ext cx="7315200" cy="548640"/>
            <a:chOff x="0" y="0"/>
            <a:chExt cx="975360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9753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Detect edges of damaged regions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37637" y="7996337"/>
            <a:ext cx="548640" cy="548640"/>
            <a:chOff x="0" y="0"/>
            <a:chExt cx="73152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437637" y="7996337"/>
            <a:ext cx="548640" cy="548640"/>
            <a:chOff x="0" y="0"/>
            <a:chExt cx="73152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169157" y="7996337"/>
            <a:ext cx="7315200" cy="548640"/>
            <a:chOff x="0" y="0"/>
            <a:chExt cx="975360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9753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Segment damaged areas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37637" y="8819297"/>
            <a:ext cx="548640" cy="548640"/>
            <a:chOff x="0" y="0"/>
            <a:chExt cx="73152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437637" y="8819297"/>
            <a:ext cx="548640" cy="548640"/>
            <a:chOff x="0" y="0"/>
            <a:chExt cx="73152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7315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169157" y="8819297"/>
            <a:ext cx="7315200" cy="548640"/>
            <a:chOff x="0" y="0"/>
            <a:chExt cx="97536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97536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Highlight damages visually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11317305" y="2499463"/>
            <a:ext cx="5941995" cy="7153268"/>
          </a:xfrm>
          <a:custGeom>
            <a:avLst/>
            <a:gdLst/>
            <a:ahLst/>
            <a:cxnLst/>
            <a:rect r="r" b="b" t="t" l="l"/>
            <a:pathLst>
              <a:path h="7153268" w="5941995">
                <a:moveTo>
                  <a:pt x="0" y="0"/>
                </a:moveTo>
                <a:lnTo>
                  <a:pt x="5941995" y="0"/>
                </a:lnTo>
                <a:lnTo>
                  <a:pt x="5941995" y="7153268"/>
                </a:lnTo>
                <a:lnTo>
                  <a:pt x="0" y="7153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ACQUISITION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3657600" cy="146304"/>
            <a:chOff x="0" y="0"/>
            <a:chExt cx="4876800" cy="195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76800" cy="195072"/>
            </a:xfrm>
            <a:custGeom>
              <a:avLst/>
              <a:gdLst/>
              <a:ahLst/>
              <a:cxnLst/>
              <a:rect r="r" b="b" t="t" l="l"/>
              <a:pathLst>
                <a:path h="1950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63040" y="3438144"/>
            <a:ext cx="219456" cy="219456"/>
            <a:chOff x="0" y="0"/>
            <a:chExt cx="292608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011680" y="3291840"/>
            <a:ext cx="10058400" cy="548640"/>
            <a:chOff x="0" y="0"/>
            <a:chExt cx="134112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34112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Road video was captured using a mobile phone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4261104"/>
            <a:ext cx="219456" cy="219456"/>
            <a:chOff x="0" y="0"/>
            <a:chExt cx="292608" cy="2926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011680" y="4114800"/>
            <a:ext cx="10058400" cy="605098"/>
            <a:chOff x="0" y="0"/>
            <a:chExt cx="13411200" cy="8067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1200" cy="806797"/>
            </a:xfrm>
            <a:custGeom>
              <a:avLst/>
              <a:gdLst/>
              <a:ahLst/>
              <a:cxnLst/>
              <a:rect r="r" b="b" t="t" l="l"/>
              <a:pathLst>
                <a:path h="806797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60" r="0" b="-2692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3411200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Resolution - 1920 × 1080 - Full HD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" y="5084064"/>
            <a:ext cx="219456" cy="219456"/>
            <a:chOff x="0" y="0"/>
            <a:chExt cx="292608" cy="2926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011680" y="4937760"/>
            <a:ext cx="10058400" cy="548640"/>
            <a:chOff x="0" y="0"/>
            <a:chExt cx="134112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34112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captured video has a frame rate of 30 FPS.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63040" y="5907024"/>
            <a:ext cx="219456" cy="219456"/>
            <a:chOff x="0" y="0"/>
            <a:chExt cx="292608" cy="2926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011680" y="5760720"/>
            <a:ext cx="10058400" cy="548640"/>
            <a:chOff x="0" y="0"/>
            <a:chExt cx="1341120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134112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video duration is 31 seconds.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63040" y="6729984"/>
            <a:ext cx="219456" cy="219456"/>
            <a:chOff x="0" y="0"/>
            <a:chExt cx="292608" cy="2926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011680" y="6583680"/>
            <a:ext cx="10058400" cy="605098"/>
            <a:chOff x="0" y="0"/>
            <a:chExt cx="13411200" cy="80679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11200" cy="806797"/>
            </a:xfrm>
            <a:custGeom>
              <a:avLst/>
              <a:gdLst/>
              <a:ahLst/>
              <a:cxnLst/>
              <a:rect r="r" b="b" t="t" l="l"/>
              <a:pathLst>
                <a:path h="806797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60" r="0" b="-26922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3411200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Camera height 1 - 1.5m, 45°  angle downward 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63040" y="7552944"/>
            <a:ext cx="219456" cy="219456"/>
            <a:chOff x="0" y="0"/>
            <a:chExt cx="292608" cy="2926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011680" y="7406640"/>
            <a:ext cx="10058400" cy="605098"/>
            <a:chOff x="0" y="0"/>
            <a:chExt cx="13411200" cy="80679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411200" cy="806797"/>
            </a:xfrm>
            <a:custGeom>
              <a:avLst/>
              <a:gdLst/>
              <a:ahLst/>
              <a:cxnLst/>
              <a:rect r="r" b="b" t="t" l="l"/>
              <a:pathLst>
                <a:path h="806797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60" r="0" b="-26922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13411200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Vid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eo recorded under low-light conditions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2403455" y="2656320"/>
            <a:ext cx="3773440" cy="5660161"/>
          </a:xfrm>
          <a:custGeom>
            <a:avLst/>
            <a:gdLst/>
            <a:ahLst/>
            <a:cxnLst/>
            <a:rect r="r" b="b" t="t" l="l"/>
            <a:pathLst>
              <a:path h="5660161" w="3773440">
                <a:moveTo>
                  <a:pt x="0" y="0"/>
                </a:moveTo>
                <a:lnTo>
                  <a:pt x="3773440" y="0"/>
                </a:lnTo>
                <a:lnTo>
                  <a:pt x="3773440" y="5660160"/>
                </a:lnTo>
                <a:lnTo>
                  <a:pt x="0" y="56601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490514"/>
            <a:chOff x="0" y="0"/>
            <a:chExt cx="21945600" cy="19873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87352"/>
            </a:xfrm>
            <a:custGeom>
              <a:avLst/>
              <a:gdLst/>
              <a:ahLst/>
              <a:cxnLst/>
              <a:rect r="r" b="b" t="t" l="l"/>
              <a:pathLst>
                <a:path h="19873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87352"/>
                  </a:lnTo>
                  <a:lnTo>
                    <a:pt x="0" y="1987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357" r="0" b="-15197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015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DATASET PREPARATION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3657600" cy="146304"/>
            <a:chOff x="0" y="0"/>
            <a:chExt cx="4876800" cy="195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76800" cy="195072"/>
            </a:xfrm>
            <a:custGeom>
              <a:avLst/>
              <a:gdLst/>
              <a:ahLst/>
              <a:cxnLst/>
              <a:rect r="r" b="b" t="t" l="l"/>
              <a:pathLst>
                <a:path h="1950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63040" y="3803904"/>
            <a:ext cx="219456" cy="219456"/>
            <a:chOff x="0" y="0"/>
            <a:chExt cx="292608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011680" y="3657600"/>
            <a:ext cx="10058400" cy="548640"/>
            <a:chOff x="0" y="0"/>
            <a:chExt cx="134112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34112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frame extraction rate is 1 frame per second.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4718304"/>
            <a:ext cx="219456" cy="219456"/>
            <a:chOff x="0" y="0"/>
            <a:chExt cx="292608" cy="2926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011680" y="4572000"/>
            <a:ext cx="10058400" cy="548640"/>
            <a:chOff x="0" y="0"/>
            <a:chExt cx="13411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34112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total video duration used is 31 seconds.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" y="5632704"/>
            <a:ext cx="219456" cy="219456"/>
            <a:chOff x="0" y="0"/>
            <a:chExt cx="292608" cy="2926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011680" y="5486400"/>
            <a:ext cx="10058400" cy="548640"/>
            <a:chOff x="0" y="0"/>
            <a:chExt cx="1341120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34112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Therefore, 31 frames are used for testing.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63040" y="6547104"/>
            <a:ext cx="219456" cy="219456"/>
            <a:chOff x="0" y="0"/>
            <a:chExt cx="292608" cy="2926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011680" y="6400800"/>
            <a:ext cx="10058400" cy="605098"/>
            <a:chOff x="0" y="0"/>
            <a:chExt cx="13411200" cy="8067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411200" cy="806797"/>
            </a:xfrm>
            <a:custGeom>
              <a:avLst/>
              <a:gdLst/>
              <a:ahLst/>
              <a:cxnLst/>
              <a:rect r="r" b="b" t="t" l="l"/>
              <a:pathLst>
                <a:path h="806797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60" r="0" b="-26922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13411200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frames are resized to 640 × 480.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63040" y="7461504"/>
            <a:ext cx="219456" cy="219456"/>
            <a:chOff x="0" y="0"/>
            <a:chExt cx="292608" cy="2926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011680" y="7315200"/>
            <a:ext cx="10058400" cy="548640"/>
            <a:chOff x="0" y="0"/>
            <a:chExt cx="134112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341120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outputs are saved in separate folders.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636503" y="3632202"/>
            <a:ext cx="4622797" cy="1879597"/>
            <a:chOff x="0" y="0"/>
            <a:chExt cx="6163729" cy="250612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33909" y="33909"/>
              <a:ext cx="6096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163818" cy="2506218"/>
            </a:xfrm>
            <a:custGeom>
              <a:avLst/>
              <a:gdLst/>
              <a:ahLst/>
              <a:cxnLst/>
              <a:rect r="r" b="b" t="t" l="l"/>
              <a:pathLst>
                <a:path h="2506218" w="6163818">
                  <a:moveTo>
                    <a:pt x="33909" y="0"/>
                  </a:moveTo>
                  <a:lnTo>
                    <a:pt x="6129909" y="0"/>
                  </a:lnTo>
                  <a:cubicBezTo>
                    <a:pt x="6148578" y="0"/>
                    <a:pt x="6163818" y="15113"/>
                    <a:pt x="6163818" y="33909"/>
                  </a:cubicBezTo>
                  <a:lnTo>
                    <a:pt x="6163818" y="2472309"/>
                  </a:lnTo>
                  <a:cubicBezTo>
                    <a:pt x="6163818" y="2490978"/>
                    <a:pt x="6148705" y="2506218"/>
                    <a:pt x="6129909" y="2506218"/>
                  </a:cubicBezTo>
                  <a:lnTo>
                    <a:pt x="33909" y="2506218"/>
                  </a:lnTo>
                  <a:cubicBezTo>
                    <a:pt x="15240" y="2506218"/>
                    <a:pt x="0" y="2491105"/>
                    <a:pt x="0" y="24723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472309"/>
                  </a:lnTo>
                  <a:lnTo>
                    <a:pt x="33909" y="2472309"/>
                  </a:lnTo>
                  <a:lnTo>
                    <a:pt x="33909" y="2438400"/>
                  </a:lnTo>
                  <a:lnTo>
                    <a:pt x="6129909" y="2438400"/>
                  </a:lnTo>
                  <a:lnTo>
                    <a:pt x="6129909" y="2472309"/>
                  </a:lnTo>
                  <a:lnTo>
                    <a:pt x="6096000" y="2472309"/>
                  </a:lnTo>
                  <a:lnTo>
                    <a:pt x="6096000" y="33909"/>
                  </a:lnTo>
                  <a:lnTo>
                    <a:pt x="6129909" y="33909"/>
                  </a:lnTo>
                  <a:lnTo>
                    <a:pt x="61299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661906" y="3840485"/>
            <a:ext cx="4572000" cy="914400"/>
            <a:chOff x="0" y="0"/>
            <a:chExt cx="609600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96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60960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31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661906" y="4754885"/>
            <a:ext cx="4572000" cy="548640"/>
            <a:chOff x="0" y="0"/>
            <a:chExt cx="60960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FRAMES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636503" y="6009642"/>
            <a:ext cx="4622797" cy="1879597"/>
            <a:chOff x="0" y="0"/>
            <a:chExt cx="6163729" cy="250612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33909" y="33909"/>
              <a:ext cx="60960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163818" cy="2506218"/>
            </a:xfrm>
            <a:custGeom>
              <a:avLst/>
              <a:gdLst/>
              <a:ahLst/>
              <a:cxnLst/>
              <a:rect r="r" b="b" t="t" l="l"/>
              <a:pathLst>
                <a:path h="2506218" w="6163818">
                  <a:moveTo>
                    <a:pt x="33909" y="0"/>
                  </a:moveTo>
                  <a:lnTo>
                    <a:pt x="6129909" y="0"/>
                  </a:lnTo>
                  <a:cubicBezTo>
                    <a:pt x="6148578" y="0"/>
                    <a:pt x="6163818" y="15113"/>
                    <a:pt x="6163818" y="33909"/>
                  </a:cubicBezTo>
                  <a:lnTo>
                    <a:pt x="6163818" y="2472309"/>
                  </a:lnTo>
                  <a:cubicBezTo>
                    <a:pt x="6163818" y="2490978"/>
                    <a:pt x="6148705" y="2506218"/>
                    <a:pt x="6129909" y="2506218"/>
                  </a:cubicBezTo>
                  <a:lnTo>
                    <a:pt x="33909" y="2506218"/>
                  </a:lnTo>
                  <a:cubicBezTo>
                    <a:pt x="15240" y="2506218"/>
                    <a:pt x="0" y="2491105"/>
                    <a:pt x="0" y="24723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472309"/>
                  </a:lnTo>
                  <a:lnTo>
                    <a:pt x="33909" y="2472309"/>
                  </a:lnTo>
                  <a:lnTo>
                    <a:pt x="33909" y="2438400"/>
                  </a:lnTo>
                  <a:lnTo>
                    <a:pt x="6129909" y="2438400"/>
                  </a:lnTo>
                  <a:lnTo>
                    <a:pt x="6129909" y="2472309"/>
                  </a:lnTo>
                  <a:lnTo>
                    <a:pt x="6096000" y="2472309"/>
                  </a:lnTo>
                  <a:lnTo>
                    <a:pt x="6096000" y="33909"/>
                  </a:lnTo>
                  <a:lnTo>
                    <a:pt x="6129909" y="33909"/>
                  </a:lnTo>
                  <a:lnTo>
                    <a:pt x="61299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661906" y="6217925"/>
            <a:ext cx="4572000" cy="914400"/>
            <a:chOff x="0" y="0"/>
            <a:chExt cx="609600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60960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640×480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661906" y="7132325"/>
            <a:ext cx="4572000" cy="548640"/>
            <a:chOff x="0" y="0"/>
            <a:chExt cx="609600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RESOLUTION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97456"/>
            <a:ext cx="16459200" cy="1322784"/>
            <a:chOff x="0" y="0"/>
            <a:chExt cx="21945600" cy="17637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63712"/>
            </a:xfrm>
            <a:custGeom>
              <a:avLst/>
              <a:gdLst/>
              <a:ahLst/>
              <a:cxnLst/>
              <a:rect r="r" b="b" t="t" l="l"/>
              <a:pathLst>
                <a:path h="176371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63712"/>
                  </a:lnTo>
                  <a:lnTo>
                    <a:pt x="0" y="17637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973" r="0" b="-1839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792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ENHANCEMENT PROCESS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920240"/>
            <a:ext cx="3657600" cy="146304"/>
            <a:chOff x="0" y="0"/>
            <a:chExt cx="4876800" cy="195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76800" cy="195072"/>
            </a:xfrm>
            <a:custGeom>
              <a:avLst/>
              <a:gdLst/>
              <a:ahLst/>
              <a:cxnLst/>
              <a:rect r="r" b="b" t="t" l="l"/>
              <a:pathLst>
                <a:path h="1950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0160" y="2926080"/>
            <a:ext cx="8317941" cy="624743"/>
            <a:chOff x="0" y="0"/>
            <a:chExt cx="12986124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86124" cy="975360"/>
            </a:xfrm>
            <a:custGeom>
              <a:avLst/>
              <a:gdLst/>
              <a:ahLst/>
              <a:cxnLst/>
              <a:rect r="r" b="b" t="t" l="l"/>
              <a:pathLst>
                <a:path h="975360" w="12986124">
                  <a:moveTo>
                    <a:pt x="0" y="0"/>
                  </a:moveTo>
                  <a:lnTo>
                    <a:pt x="12986124" y="0"/>
                  </a:lnTo>
                  <a:lnTo>
                    <a:pt x="12986124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E8E8E8">
                <a:alpha val="48627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12878" y="2926080"/>
            <a:ext cx="7652505" cy="624743"/>
            <a:chOff x="0" y="0"/>
            <a:chExt cx="11947234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947234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7234">
                  <a:moveTo>
                    <a:pt x="0" y="0"/>
                  </a:moveTo>
                  <a:lnTo>
                    <a:pt x="11947234" y="0"/>
                  </a:lnTo>
                  <a:lnTo>
                    <a:pt x="1194723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077" r="6115" b="-17407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1947234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Frame Extraction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80160" y="3707008"/>
            <a:ext cx="8317941" cy="624743"/>
            <a:chOff x="0" y="0"/>
            <a:chExt cx="12986124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86124" cy="975360"/>
            </a:xfrm>
            <a:custGeom>
              <a:avLst/>
              <a:gdLst/>
              <a:ahLst/>
              <a:cxnLst/>
              <a:rect r="r" b="b" t="t" l="l"/>
              <a:pathLst>
                <a:path h="975360" w="12986124">
                  <a:moveTo>
                    <a:pt x="0" y="0"/>
                  </a:moveTo>
                  <a:lnTo>
                    <a:pt x="12986124" y="0"/>
                  </a:lnTo>
                  <a:lnTo>
                    <a:pt x="12986124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CCCCCC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12878" y="3707008"/>
            <a:ext cx="7652505" cy="624743"/>
            <a:chOff x="0" y="0"/>
            <a:chExt cx="11947234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947234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7234">
                  <a:moveTo>
                    <a:pt x="0" y="0"/>
                  </a:moveTo>
                  <a:lnTo>
                    <a:pt x="11947234" y="0"/>
                  </a:lnTo>
                  <a:lnTo>
                    <a:pt x="1194723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077" r="6115" b="-17407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1947234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Grayscale Conversion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80160" y="4487937"/>
            <a:ext cx="8317941" cy="624743"/>
            <a:chOff x="0" y="0"/>
            <a:chExt cx="12986124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986124" cy="975360"/>
            </a:xfrm>
            <a:custGeom>
              <a:avLst/>
              <a:gdLst/>
              <a:ahLst/>
              <a:cxnLst/>
              <a:rect r="r" b="b" t="t" l="l"/>
              <a:pathLst>
                <a:path h="975360" w="12986124">
                  <a:moveTo>
                    <a:pt x="0" y="0"/>
                  </a:moveTo>
                  <a:lnTo>
                    <a:pt x="12986124" y="0"/>
                  </a:lnTo>
                  <a:lnTo>
                    <a:pt x="12986124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E8E8E8">
                <a:alpha val="48627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12878" y="4487937"/>
            <a:ext cx="7652505" cy="624743"/>
            <a:chOff x="0" y="0"/>
            <a:chExt cx="11947234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947234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7234">
                  <a:moveTo>
                    <a:pt x="0" y="0"/>
                  </a:moveTo>
                  <a:lnTo>
                    <a:pt x="11947234" y="0"/>
                  </a:lnTo>
                  <a:lnTo>
                    <a:pt x="1194723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077" r="6115" b="-17407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1947234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Noise reduction using Gaussian Blur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80160" y="5268865"/>
            <a:ext cx="8317941" cy="624743"/>
            <a:chOff x="0" y="0"/>
            <a:chExt cx="12986124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986124" cy="975360"/>
            </a:xfrm>
            <a:custGeom>
              <a:avLst/>
              <a:gdLst/>
              <a:ahLst/>
              <a:cxnLst/>
              <a:rect r="r" b="b" t="t" l="l"/>
              <a:pathLst>
                <a:path h="975360" w="12986124">
                  <a:moveTo>
                    <a:pt x="0" y="0"/>
                  </a:moveTo>
                  <a:lnTo>
                    <a:pt x="12986124" y="0"/>
                  </a:lnTo>
                  <a:lnTo>
                    <a:pt x="12986124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CCCCCC">
                <a:alpha val="48627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612878" y="5268865"/>
            <a:ext cx="7652505" cy="624743"/>
            <a:chOff x="0" y="0"/>
            <a:chExt cx="11947234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947234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7234">
                  <a:moveTo>
                    <a:pt x="0" y="0"/>
                  </a:moveTo>
                  <a:lnTo>
                    <a:pt x="11947234" y="0"/>
                  </a:lnTo>
                  <a:lnTo>
                    <a:pt x="1194723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077" r="6115" b="-17407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1947234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Contrast enhancement using CLAHE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80160" y="6049794"/>
            <a:ext cx="8317941" cy="624743"/>
            <a:chOff x="0" y="0"/>
            <a:chExt cx="12986124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986124" cy="975360"/>
            </a:xfrm>
            <a:custGeom>
              <a:avLst/>
              <a:gdLst/>
              <a:ahLst/>
              <a:cxnLst/>
              <a:rect r="r" b="b" t="t" l="l"/>
              <a:pathLst>
                <a:path h="975360" w="12986124">
                  <a:moveTo>
                    <a:pt x="0" y="0"/>
                  </a:moveTo>
                  <a:lnTo>
                    <a:pt x="12986124" y="0"/>
                  </a:lnTo>
                  <a:lnTo>
                    <a:pt x="12986124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E8E8E8">
                <a:alpha val="48627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612878" y="6049794"/>
            <a:ext cx="7652505" cy="624743"/>
            <a:chOff x="0" y="0"/>
            <a:chExt cx="11947234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947234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7234">
                  <a:moveTo>
                    <a:pt x="0" y="0"/>
                  </a:moveTo>
                  <a:lnTo>
                    <a:pt x="11947234" y="0"/>
                  </a:lnTo>
                  <a:lnTo>
                    <a:pt x="1194723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077" r="6115" b="-17407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1947234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Improves visibility of road damages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80160" y="6830722"/>
            <a:ext cx="8317941" cy="624743"/>
            <a:chOff x="0" y="0"/>
            <a:chExt cx="12986124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986124" cy="975360"/>
            </a:xfrm>
            <a:custGeom>
              <a:avLst/>
              <a:gdLst/>
              <a:ahLst/>
              <a:cxnLst/>
              <a:rect r="r" b="b" t="t" l="l"/>
              <a:pathLst>
                <a:path h="975360" w="12986124">
                  <a:moveTo>
                    <a:pt x="0" y="0"/>
                  </a:moveTo>
                  <a:lnTo>
                    <a:pt x="12986124" y="0"/>
                  </a:lnTo>
                  <a:lnTo>
                    <a:pt x="12986124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CCCCCC">
                <a:alpha val="48627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612878" y="6830722"/>
            <a:ext cx="7652505" cy="624743"/>
            <a:chOff x="0" y="0"/>
            <a:chExt cx="11947234" cy="975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947234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7234">
                  <a:moveTo>
                    <a:pt x="0" y="0"/>
                  </a:moveTo>
                  <a:lnTo>
                    <a:pt x="11947234" y="0"/>
                  </a:lnTo>
                  <a:lnTo>
                    <a:pt x="1194723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077" r="6115" b="-17407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1947234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Reduces noise and lighting issues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0663577" y="2005643"/>
            <a:ext cx="5959323" cy="7151187"/>
          </a:xfrm>
          <a:custGeom>
            <a:avLst/>
            <a:gdLst/>
            <a:ahLst/>
            <a:cxnLst/>
            <a:rect r="r" b="b" t="t" l="l"/>
            <a:pathLst>
              <a:path h="7151187" w="5959323">
                <a:moveTo>
                  <a:pt x="0" y="0"/>
                </a:moveTo>
                <a:lnTo>
                  <a:pt x="5959323" y="0"/>
                </a:lnTo>
                <a:lnTo>
                  <a:pt x="5959323" y="7151187"/>
                </a:lnTo>
                <a:lnTo>
                  <a:pt x="0" y="71511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ENHANCEMENT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3657600" cy="146304"/>
            <a:chOff x="0" y="0"/>
            <a:chExt cx="4876800" cy="195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76800" cy="195072"/>
            </a:xfrm>
            <a:custGeom>
              <a:avLst/>
              <a:gdLst/>
              <a:ahLst/>
              <a:cxnLst/>
              <a:rect r="r" b="b" t="t" l="l"/>
              <a:pathLst>
                <a:path h="1950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37637" y="3632197"/>
            <a:ext cx="4622797" cy="3708397"/>
            <a:chOff x="0" y="0"/>
            <a:chExt cx="6163729" cy="49445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3909" y="33909"/>
              <a:ext cx="60960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/>
              <a:stretch>
                <a:fillRect l="-3333" t="0" r="-3333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63818" cy="4944618"/>
            </a:xfrm>
            <a:custGeom>
              <a:avLst/>
              <a:gdLst/>
              <a:ahLst/>
              <a:cxnLst/>
              <a:rect r="r" b="b" t="t" l="l"/>
              <a:pathLst>
                <a:path h="4944618" w="6163818">
                  <a:moveTo>
                    <a:pt x="33909" y="0"/>
                  </a:moveTo>
                  <a:lnTo>
                    <a:pt x="6129909" y="0"/>
                  </a:lnTo>
                  <a:cubicBezTo>
                    <a:pt x="6148578" y="0"/>
                    <a:pt x="6163818" y="15113"/>
                    <a:pt x="6163818" y="33909"/>
                  </a:cubicBezTo>
                  <a:lnTo>
                    <a:pt x="6163818" y="4910709"/>
                  </a:lnTo>
                  <a:cubicBezTo>
                    <a:pt x="6163818" y="4929378"/>
                    <a:pt x="6148705" y="4944618"/>
                    <a:pt x="6129909" y="4944618"/>
                  </a:cubicBezTo>
                  <a:lnTo>
                    <a:pt x="33909" y="4944618"/>
                  </a:lnTo>
                  <a:cubicBezTo>
                    <a:pt x="15240" y="4944618"/>
                    <a:pt x="0" y="4929505"/>
                    <a:pt x="0" y="49107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4910709"/>
                  </a:lnTo>
                  <a:lnTo>
                    <a:pt x="33909" y="4910709"/>
                  </a:lnTo>
                  <a:lnTo>
                    <a:pt x="33909" y="4876800"/>
                  </a:lnTo>
                  <a:lnTo>
                    <a:pt x="6129909" y="4876800"/>
                  </a:lnTo>
                  <a:lnTo>
                    <a:pt x="6129909" y="4910709"/>
                  </a:lnTo>
                  <a:lnTo>
                    <a:pt x="6096000" y="4910709"/>
                  </a:lnTo>
                  <a:lnTo>
                    <a:pt x="6096000" y="33909"/>
                  </a:lnTo>
                  <a:lnTo>
                    <a:pt x="6129909" y="33909"/>
                  </a:lnTo>
                  <a:lnTo>
                    <a:pt x="61299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63040" y="7680960"/>
            <a:ext cx="4572000" cy="731520"/>
            <a:chOff x="0" y="0"/>
            <a:chExt cx="609600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96000" cy="975360"/>
            </a:xfrm>
            <a:custGeom>
              <a:avLst/>
              <a:gdLst/>
              <a:ahLst/>
              <a:cxnLst/>
              <a:rect r="r" b="b" t="t" l="l"/>
              <a:pathLst>
                <a:path h="9753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0960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GRAYSCALE IMAGE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41157" y="3632197"/>
            <a:ext cx="4622797" cy="3708397"/>
            <a:chOff x="0" y="0"/>
            <a:chExt cx="6163729" cy="49445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3909" y="33909"/>
              <a:ext cx="60960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4"/>
              <a:stretch>
                <a:fillRect l="-3333" t="0" r="-3333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63818" cy="4944618"/>
            </a:xfrm>
            <a:custGeom>
              <a:avLst/>
              <a:gdLst/>
              <a:ahLst/>
              <a:cxnLst/>
              <a:rect r="r" b="b" t="t" l="l"/>
              <a:pathLst>
                <a:path h="4944618" w="6163818">
                  <a:moveTo>
                    <a:pt x="33909" y="0"/>
                  </a:moveTo>
                  <a:lnTo>
                    <a:pt x="6129909" y="0"/>
                  </a:lnTo>
                  <a:cubicBezTo>
                    <a:pt x="6148578" y="0"/>
                    <a:pt x="6163818" y="15113"/>
                    <a:pt x="6163818" y="33909"/>
                  </a:cubicBezTo>
                  <a:lnTo>
                    <a:pt x="6163818" y="4910709"/>
                  </a:lnTo>
                  <a:cubicBezTo>
                    <a:pt x="6163818" y="4929378"/>
                    <a:pt x="6148705" y="4944618"/>
                    <a:pt x="6129909" y="4944618"/>
                  </a:cubicBezTo>
                  <a:lnTo>
                    <a:pt x="33909" y="4944618"/>
                  </a:lnTo>
                  <a:cubicBezTo>
                    <a:pt x="15240" y="4944618"/>
                    <a:pt x="0" y="4929505"/>
                    <a:pt x="0" y="49107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4910709"/>
                  </a:lnTo>
                  <a:lnTo>
                    <a:pt x="33909" y="4910709"/>
                  </a:lnTo>
                  <a:lnTo>
                    <a:pt x="33909" y="4876800"/>
                  </a:lnTo>
                  <a:lnTo>
                    <a:pt x="6129909" y="4876800"/>
                  </a:lnTo>
                  <a:lnTo>
                    <a:pt x="6129909" y="4910709"/>
                  </a:lnTo>
                  <a:lnTo>
                    <a:pt x="6096000" y="4910709"/>
                  </a:lnTo>
                  <a:lnTo>
                    <a:pt x="6096000" y="33909"/>
                  </a:lnTo>
                  <a:lnTo>
                    <a:pt x="6129909" y="33909"/>
                  </a:lnTo>
                  <a:lnTo>
                    <a:pt x="61299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766560" y="7680960"/>
            <a:ext cx="4572000" cy="731520"/>
            <a:chOff x="0" y="0"/>
            <a:chExt cx="609600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96000" cy="975360"/>
            </a:xfrm>
            <a:custGeom>
              <a:avLst/>
              <a:gdLst/>
              <a:ahLst/>
              <a:cxnLst/>
              <a:rect r="r" b="b" t="t" l="l"/>
              <a:pathLst>
                <a:path h="9753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0960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DENOISE IMAGE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044677" y="3632197"/>
            <a:ext cx="4622797" cy="3708397"/>
            <a:chOff x="0" y="0"/>
            <a:chExt cx="6163729" cy="49445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33909" y="33909"/>
              <a:ext cx="60960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5"/>
              <a:stretch>
                <a:fillRect l="-3333" t="0" r="-3333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63818" cy="4944618"/>
            </a:xfrm>
            <a:custGeom>
              <a:avLst/>
              <a:gdLst/>
              <a:ahLst/>
              <a:cxnLst/>
              <a:rect r="r" b="b" t="t" l="l"/>
              <a:pathLst>
                <a:path h="4944618" w="6163818">
                  <a:moveTo>
                    <a:pt x="33909" y="0"/>
                  </a:moveTo>
                  <a:lnTo>
                    <a:pt x="6129909" y="0"/>
                  </a:lnTo>
                  <a:cubicBezTo>
                    <a:pt x="6148578" y="0"/>
                    <a:pt x="6163818" y="15113"/>
                    <a:pt x="6163818" y="33909"/>
                  </a:cubicBezTo>
                  <a:lnTo>
                    <a:pt x="6163818" y="4910709"/>
                  </a:lnTo>
                  <a:cubicBezTo>
                    <a:pt x="6163818" y="4929378"/>
                    <a:pt x="6148705" y="4944618"/>
                    <a:pt x="6129909" y="4944618"/>
                  </a:cubicBezTo>
                  <a:lnTo>
                    <a:pt x="33909" y="4944618"/>
                  </a:lnTo>
                  <a:cubicBezTo>
                    <a:pt x="15240" y="4944618"/>
                    <a:pt x="0" y="4929505"/>
                    <a:pt x="0" y="49107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4910709"/>
                  </a:lnTo>
                  <a:lnTo>
                    <a:pt x="33909" y="4910709"/>
                  </a:lnTo>
                  <a:lnTo>
                    <a:pt x="33909" y="4876800"/>
                  </a:lnTo>
                  <a:lnTo>
                    <a:pt x="6129909" y="4876800"/>
                  </a:lnTo>
                  <a:lnTo>
                    <a:pt x="6129909" y="4910709"/>
                  </a:lnTo>
                  <a:lnTo>
                    <a:pt x="6096000" y="4910709"/>
                  </a:lnTo>
                  <a:lnTo>
                    <a:pt x="6096000" y="33909"/>
                  </a:lnTo>
                  <a:lnTo>
                    <a:pt x="6129909" y="33909"/>
                  </a:lnTo>
                  <a:lnTo>
                    <a:pt x="61299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070080" y="7680960"/>
            <a:ext cx="4572000" cy="731520"/>
            <a:chOff x="0" y="0"/>
            <a:chExt cx="609600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96000" cy="975360"/>
            </a:xfrm>
            <a:custGeom>
              <a:avLst/>
              <a:gdLst/>
              <a:ahLst/>
              <a:cxnLst/>
              <a:rect r="r" b="b" t="t" l="l"/>
              <a:pathLst>
                <a:path h="9753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0960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CONTRAST IMAGE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997362" y="9048883"/>
            <a:ext cx="14110386" cy="731520"/>
            <a:chOff x="0" y="0"/>
            <a:chExt cx="18813849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813849" cy="975360"/>
            </a:xfrm>
            <a:custGeom>
              <a:avLst/>
              <a:gdLst/>
              <a:ahLst/>
              <a:cxnLst/>
              <a:rect r="r" b="b" t="t" l="l"/>
              <a:pathLst>
                <a:path h="975360" w="18813849">
                  <a:moveTo>
                    <a:pt x="0" y="0"/>
                  </a:moveTo>
                  <a:lnTo>
                    <a:pt x="18813849" y="0"/>
                  </a:lnTo>
                  <a:lnTo>
                    <a:pt x="18813849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67598" b="-7178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8813849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b="true" sz="2599">
                  <a:solidFill>
                    <a:srgbClr val="1800A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IMAGE ENHANCEMENT IMPROVED CRACK VISIBILITY AND REDUCED NOISE BEFORE SEGMENTATION.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SEGMENTATION PROCESS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3657600" cy="146304"/>
            <a:chOff x="0" y="0"/>
            <a:chExt cx="4876800" cy="195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76800" cy="195072"/>
            </a:xfrm>
            <a:custGeom>
              <a:avLst/>
              <a:gdLst/>
              <a:ahLst/>
              <a:cxnLst/>
              <a:rect r="r" b="b" t="t" l="l"/>
              <a:pathLst>
                <a:path h="1950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0160" y="3291840"/>
            <a:ext cx="576574" cy="576574"/>
            <a:chOff x="0" y="0"/>
            <a:chExt cx="85344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80160" y="3291840"/>
            <a:ext cx="576574" cy="576574"/>
            <a:chOff x="0" y="0"/>
            <a:chExt cx="85344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8534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03837" y="3291840"/>
            <a:ext cx="8236769" cy="576574"/>
            <a:chOff x="0" y="0"/>
            <a:chExt cx="1219200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192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Canny Edge Detection for boundary detection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0160" y="4280252"/>
            <a:ext cx="576574" cy="576574"/>
            <a:chOff x="0" y="0"/>
            <a:chExt cx="85344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80160" y="4280252"/>
            <a:ext cx="576574" cy="576574"/>
            <a:chOff x="0" y="0"/>
            <a:chExt cx="85344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8534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03837" y="4280252"/>
            <a:ext cx="8236769" cy="576574"/>
            <a:chOff x="0" y="0"/>
            <a:chExt cx="1219200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192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Morphological operations (dilation)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80160" y="5268665"/>
            <a:ext cx="576574" cy="576574"/>
            <a:chOff x="0" y="0"/>
            <a:chExt cx="85344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80160" y="5268665"/>
            <a:ext cx="576574" cy="576574"/>
            <a:chOff x="0" y="0"/>
            <a:chExt cx="853440" cy="85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8534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103837" y="5268665"/>
            <a:ext cx="8236769" cy="576574"/>
            <a:chOff x="0" y="0"/>
            <a:chExt cx="1219200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192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Contour detection to identify damaged areas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80160" y="6257077"/>
            <a:ext cx="576574" cy="576574"/>
            <a:chOff x="0" y="0"/>
            <a:chExt cx="85344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80160" y="6257077"/>
            <a:ext cx="576574" cy="576574"/>
            <a:chOff x="0" y="0"/>
            <a:chExt cx="85344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8534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103837" y="6257077"/>
            <a:ext cx="8236769" cy="576574"/>
            <a:chOff x="0" y="0"/>
            <a:chExt cx="1219200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2192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Area filtering to remove noise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80160" y="7245489"/>
            <a:ext cx="576574" cy="576574"/>
            <a:chOff x="0" y="0"/>
            <a:chExt cx="853440" cy="853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426720"/>
                  </a:moveTo>
                  <a:cubicBezTo>
                    <a:pt x="0" y="191008"/>
                    <a:pt x="191008" y="0"/>
                    <a:pt x="426720" y="0"/>
                  </a:cubicBezTo>
                  <a:cubicBezTo>
                    <a:pt x="662432" y="0"/>
                    <a:pt x="853440" y="191008"/>
                    <a:pt x="853440" y="426720"/>
                  </a:cubicBezTo>
                  <a:cubicBezTo>
                    <a:pt x="853440" y="662432"/>
                    <a:pt x="662432" y="853440"/>
                    <a:pt x="426720" y="853440"/>
                  </a:cubicBezTo>
                  <a:cubicBezTo>
                    <a:pt x="191008" y="853440"/>
                    <a:pt x="0" y="662432"/>
                    <a:pt x="0" y="426720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88740" y="7245489"/>
            <a:ext cx="576574" cy="576574"/>
            <a:chOff x="0" y="0"/>
            <a:chExt cx="85344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8534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103837" y="7245489"/>
            <a:ext cx="8236769" cy="576574"/>
            <a:chOff x="0" y="0"/>
            <a:chExt cx="12192000" cy="8534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2192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segmentation of road damages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9301190" y="2339054"/>
            <a:ext cx="8581061" cy="6435796"/>
          </a:xfrm>
          <a:custGeom>
            <a:avLst/>
            <a:gdLst/>
            <a:ahLst/>
            <a:cxnLst/>
            <a:rect r="r" b="b" t="t" l="l"/>
            <a:pathLst>
              <a:path h="6435796" w="8581061">
                <a:moveTo>
                  <a:pt x="0" y="0"/>
                </a:moveTo>
                <a:lnTo>
                  <a:pt x="8581061" y="0"/>
                </a:lnTo>
                <a:lnTo>
                  <a:pt x="8581061" y="6435796"/>
                </a:lnTo>
                <a:lnTo>
                  <a:pt x="0" y="6435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SEGMENTATION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3657600" cy="146304"/>
            <a:chOff x="0" y="0"/>
            <a:chExt cx="4876800" cy="195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76800" cy="195072"/>
            </a:xfrm>
            <a:custGeom>
              <a:avLst/>
              <a:gdLst/>
              <a:ahLst/>
              <a:cxnLst/>
              <a:rect r="r" b="b" t="t" l="l"/>
              <a:pathLst>
                <a:path h="1950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37637" y="3632197"/>
            <a:ext cx="4622797" cy="3708397"/>
            <a:chOff x="0" y="0"/>
            <a:chExt cx="6163729" cy="49445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3909" y="33909"/>
              <a:ext cx="60960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/>
              <a:stretch>
                <a:fillRect l="-3398" t="0" r="-3398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63818" cy="4944618"/>
            </a:xfrm>
            <a:custGeom>
              <a:avLst/>
              <a:gdLst/>
              <a:ahLst/>
              <a:cxnLst/>
              <a:rect r="r" b="b" t="t" l="l"/>
              <a:pathLst>
                <a:path h="4944618" w="6163818">
                  <a:moveTo>
                    <a:pt x="33909" y="0"/>
                  </a:moveTo>
                  <a:lnTo>
                    <a:pt x="6129909" y="0"/>
                  </a:lnTo>
                  <a:cubicBezTo>
                    <a:pt x="6148578" y="0"/>
                    <a:pt x="6163818" y="15113"/>
                    <a:pt x="6163818" y="33909"/>
                  </a:cubicBezTo>
                  <a:lnTo>
                    <a:pt x="6163818" y="4910709"/>
                  </a:lnTo>
                  <a:cubicBezTo>
                    <a:pt x="6163818" y="4929378"/>
                    <a:pt x="6148705" y="4944618"/>
                    <a:pt x="6129909" y="4944618"/>
                  </a:cubicBezTo>
                  <a:lnTo>
                    <a:pt x="33909" y="4944618"/>
                  </a:lnTo>
                  <a:cubicBezTo>
                    <a:pt x="15240" y="4944618"/>
                    <a:pt x="0" y="4929505"/>
                    <a:pt x="0" y="49107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4910709"/>
                  </a:lnTo>
                  <a:lnTo>
                    <a:pt x="33909" y="4910709"/>
                  </a:lnTo>
                  <a:lnTo>
                    <a:pt x="33909" y="4876800"/>
                  </a:lnTo>
                  <a:lnTo>
                    <a:pt x="6129909" y="4876800"/>
                  </a:lnTo>
                  <a:lnTo>
                    <a:pt x="6129909" y="4910709"/>
                  </a:lnTo>
                  <a:lnTo>
                    <a:pt x="6096000" y="4910709"/>
                  </a:lnTo>
                  <a:lnTo>
                    <a:pt x="6096000" y="33909"/>
                  </a:lnTo>
                  <a:lnTo>
                    <a:pt x="6129909" y="33909"/>
                  </a:lnTo>
                  <a:lnTo>
                    <a:pt x="61299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63040" y="7680960"/>
            <a:ext cx="4572000" cy="731520"/>
            <a:chOff x="0" y="0"/>
            <a:chExt cx="609600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96000" cy="975360"/>
            </a:xfrm>
            <a:custGeom>
              <a:avLst/>
              <a:gdLst/>
              <a:ahLst/>
              <a:cxnLst/>
              <a:rect r="r" b="b" t="t" l="l"/>
              <a:pathLst>
                <a:path h="9753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0960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CANNY IMAGE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41157" y="3632197"/>
            <a:ext cx="4622797" cy="3708397"/>
            <a:chOff x="0" y="0"/>
            <a:chExt cx="6163729" cy="49445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3909" y="33909"/>
              <a:ext cx="60960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4"/>
              <a:stretch>
                <a:fillRect l="-3398" t="0" r="-3398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63818" cy="4944618"/>
            </a:xfrm>
            <a:custGeom>
              <a:avLst/>
              <a:gdLst/>
              <a:ahLst/>
              <a:cxnLst/>
              <a:rect r="r" b="b" t="t" l="l"/>
              <a:pathLst>
                <a:path h="4944618" w="6163818">
                  <a:moveTo>
                    <a:pt x="33909" y="0"/>
                  </a:moveTo>
                  <a:lnTo>
                    <a:pt x="6129909" y="0"/>
                  </a:lnTo>
                  <a:cubicBezTo>
                    <a:pt x="6148578" y="0"/>
                    <a:pt x="6163818" y="15113"/>
                    <a:pt x="6163818" y="33909"/>
                  </a:cubicBezTo>
                  <a:lnTo>
                    <a:pt x="6163818" y="4910709"/>
                  </a:lnTo>
                  <a:cubicBezTo>
                    <a:pt x="6163818" y="4929378"/>
                    <a:pt x="6148705" y="4944618"/>
                    <a:pt x="6129909" y="4944618"/>
                  </a:cubicBezTo>
                  <a:lnTo>
                    <a:pt x="33909" y="4944618"/>
                  </a:lnTo>
                  <a:cubicBezTo>
                    <a:pt x="15240" y="4944618"/>
                    <a:pt x="0" y="4929505"/>
                    <a:pt x="0" y="49107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4910709"/>
                  </a:lnTo>
                  <a:lnTo>
                    <a:pt x="33909" y="4910709"/>
                  </a:lnTo>
                  <a:lnTo>
                    <a:pt x="33909" y="4876800"/>
                  </a:lnTo>
                  <a:lnTo>
                    <a:pt x="6129909" y="4876800"/>
                  </a:lnTo>
                  <a:lnTo>
                    <a:pt x="6129909" y="4910709"/>
                  </a:lnTo>
                  <a:lnTo>
                    <a:pt x="6096000" y="4910709"/>
                  </a:lnTo>
                  <a:lnTo>
                    <a:pt x="6096000" y="33909"/>
                  </a:lnTo>
                  <a:lnTo>
                    <a:pt x="6129909" y="33909"/>
                  </a:lnTo>
                  <a:lnTo>
                    <a:pt x="61299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766560" y="7680960"/>
            <a:ext cx="4572000" cy="731520"/>
            <a:chOff x="0" y="0"/>
            <a:chExt cx="609600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96000" cy="975360"/>
            </a:xfrm>
            <a:custGeom>
              <a:avLst/>
              <a:gdLst/>
              <a:ahLst/>
              <a:cxnLst/>
              <a:rect r="r" b="b" t="t" l="l"/>
              <a:pathLst>
                <a:path h="9753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0960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CONTOUR IMAGE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044677" y="3632197"/>
            <a:ext cx="4622797" cy="3708397"/>
            <a:chOff x="0" y="0"/>
            <a:chExt cx="6163729" cy="49445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33909" y="33909"/>
              <a:ext cx="60960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5"/>
              <a:stretch>
                <a:fillRect l="-3398" t="0" r="-3398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63818" cy="4944618"/>
            </a:xfrm>
            <a:custGeom>
              <a:avLst/>
              <a:gdLst/>
              <a:ahLst/>
              <a:cxnLst/>
              <a:rect r="r" b="b" t="t" l="l"/>
              <a:pathLst>
                <a:path h="4944618" w="6163818">
                  <a:moveTo>
                    <a:pt x="33909" y="0"/>
                  </a:moveTo>
                  <a:lnTo>
                    <a:pt x="6129909" y="0"/>
                  </a:lnTo>
                  <a:cubicBezTo>
                    <a:pt x="6148578" y="0"/>
                    <a:pt x="6163818" y="15113"/>
                    <a:pt x="6163818" y="33909"/>
                  </a:cubicBezTo>
                  <a:lnTo>
                    <a:pt x="6163818" y="4910709"/>
                  </a:lnTo>
                  <a:cubicBezTo>
                    <a:pt x="6163818" y="4929378"/>
                    <a:pt x="6148705" y="4944618"/>
                    <a:pt x="6129909" y="4944618"/>
                  </a:cubicBezTo>
                  <a:lnTo>
                    <a:pt x="33909" y="4944618"/>
                  </a:lnTo>
                  <a:cubicBezTo>
                    <a:pt x="15240" y="4944618"/>
                    <a:pt x="0" y="4929505"/>
                    <a:pt x="0" y="49107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4910709"/>
                  </a:lnTo>
                  <a:lnTo>
                    <a:pt x="33909" y="4910709"/>
                  </a:lnTo>
                  <a:lnTo>
                    <a:pt x="33909" y="4876800"/>
                  </a:lnTo>
                  <a:lnTo>
                    <a:pt x="6129909" y="4876800"/>
                  </a:lnTo>
                  <a:lnTo>
                    <a:pt x="6129909" y="4910709"/>
                  </a:lnTo>
                  <a:lnTo>
                    <a:pt x="6096000" y="4910709"/>
                  </a:lnTo>
                  <a:lnTo>
                    <a:pt x="6096000" y="33909"/>
                  </a:lnTo>
                  <a:lnTo>
                    <a:pt x="6129909" y="33909"/>
                  </a:lnTo>
                  <a:lnTo>
                    <a:pt x="61299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070080" y="7680960"/>
            <a:ext cx="4572000" cy="731520"/>
            <a:chOff x="0" y="0"/>
            <a:chExt cx="609600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96000" cy="975360"/>
            </a:xfrm>
            <a:custGeom>
              <a:avLst/>
              <a:gdLst/>
              <a:ahLst/>
              <a:cxnLst/>
              <a:rect r="r" b="b" t="t" l="l"/>
              <a:pathLst>
                <a:path h="9753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0960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SEGMENTED OUTPUT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94318"/>
            <a:ext cx="16459200" cy="1490514"/>
            <a:chOff x="0" y="0"/>
            <a:chExt cx="21945600" cy="19873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87352"/>
            </a:xfrm>
            <a:custGeom>
              <a:avLst/>
              <a:gdLst/>
              <a:ahLst/>
              <a:cxnLst/>
              <a:rect r="r" b="b" t="t" l="l"/>
              <a:pathLst>
                <a:path h="19873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87352"/>
                  </a:lnTo>
                  <a:lnTo>
                    <a:pt x="0" y="1987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357" r="0" b="-15197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015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EVALUA</a:t>
              </a:r>
              <a:r>
                <a:rPr lang="en-US" sz="7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TION METRICS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3657600" cy="146304"/>
            <a:chOff x="0" y="0"/>
            <a:chExt cx="4876800" cy="195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76800" cy="195072"/>
            </a:xfrm>
            <a:custGeom>
              <a:avLst/>
              <a:gdLst/>
              <a:ahLst/>
              <a:cxnLst/>
              <a:rect r="r" b="b" t="t" l="l"/>
              <a:pathLst>
                <a:path h="1950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867198" y="5452626"/>
            <a:ext cx="4572000" cy="731520"/>
            <a:chOff x="0" y="0"/>
            <a:chExt cx="609600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96000" cy="975360"/>
            </a:xfrm>
            <a:custGeom>
              <a:avLst/>
              <a:gdLst/>
              <a:ahLst/>
              <a:cxnLst/>
              <a:rect r="r" b="b" t="t" l="l"/>
              <a:pathLst>
                <a:path h="9753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0960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Overall Average of Five Frames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2556" y="3249719"/>
            <a:ext cx="219456" cy="219456"/>
            <a:chOff x="0" y="0"/>
            <a:chExt cx="292608" cy="2926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13926" y="3056898"/>
            <a:ext cx="7487125" cy="605098"/>
            <a:chOff x="0" y="0"/>
            <a:chExt cx="9982834" cy="8067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82833" cy="806797"/>
            </a:xfrm>
            <a:custGeom>
              <a:avLst/>
              <a:gdLst/>
              <a:ahLst/>
              <a:cxnLst/>
              <a:rect r="r" b="b" t="t" l="l"/>
              <a:pathLst>
                <a:path h="806797" w="9982833">
                  <a:moveTo>
                    <a:pt x="0" y="0"/>
                  </a:moveTo>
                  <a:lnTo>
                    <a:pt x="9982833" y="0"/>
                  </a:lnTo>
                  <a:lnTo>
                    <a:pt x="9982833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60" r="-34342" b="-26922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9982834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elected contour output images for evaluation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2556" y="4016633"/>
            <a:ext cx="219456" cy="219456"/>
            <a:chOff x="0" y="0"/>
            <a:chExt cx="292608" cy="2926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13926" y="3823812"/>
            <a:ext cx="7487125" cy="605098"/>
            <a:chOff x="0" y="0"/>
            <a:chExt cx="9982834" cy="8067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82833" cy="806797"/>
            </a:xfrm>
            <a:custGeom>
              <a:avLst/>
              <a:gdLst/>
              <a:ahLst/>
              <a:cxnLst/>
              <a:rect r="r" b="b" t="t" l="l"/>
              <a:pathLst>
                <a:path h="806797" w="9982833">
                  <a:moveTo>
                    <a:pt x="0" y="0"/>
                  </a:moveTo>
                  <a:lnTo>
                    <a:pt x="9982833" y="0"/>
                  </a:lnTo>
                  <a:lnTo>
                    <a:pt x="9982833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60" r="-34342" b="-26922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9982834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Ground trut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 images created using Paint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2556" y="4783656"/>
            <a:ext cx="219456" cy="219456"/>
            <a:chOff x="0" y="0"/>
            <a:chExt cx="292608" cy="2926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13926" y="4590835"/>
            <a:ext cx="7487125" cy="605098"/>
            <a:chOff x="0" y="0"/>
            <a:chExt cx="9982834" cy="8067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82833" cy="806797"/>
            </a:xfrm>
            <a:custGeom>
              <a:avLst/>
              <a:gdLst/>
              <a:ahLst/>
              <a:cxnLst/>
              <a:rect r="r" b="b" t="t" l="l"/>
              <a:pathLst>
                <a:path h="806797" w="9982833">
                  <a:moveTo>
                    <a:pt x="0" y="0"/>
                  </a:moveTo>
                  <a:lnTo>
                    <a:pt x="9982833" y="0"/>
                  </a:lnTo>
                  <a:lnTo>
                    <a:pt x="9982833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60" r="-34342" b="-26922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9982834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Compared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predicted output with ground truth</a:t>
              </a:r>
            </a:p>
          </p:txBody>
        </p:sp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982953" y="1847879"/>
            <a:ext cx="9665604" cy="4410214"/>
          </a:xfrm>
          <a:prstGeom prst="rect">
            <a:avLst/>
          </a:prstGeom>
        </p:spPr>
      </p:pic>
      <p:graphicFrame>
        <p:nvGraphicFramePr>
          <p:cNvPr name="Object 26" id="26"/>
          <p:cNvGraphicFramePr/>
          <p:nvPr/>
        </p:nvGraphicFramePr>
        <p:xfrm>
          <a:off x="1327665" y="6346071"/>
          <a:ext cx="15087600" cy="5029200"/>
        </p:xfrm>
        <a:graphic>
          <a:graphicData uri="http://schemas.openxmlformats.org/presentationml/2006/ole">
            <p:oleObj imgW="18097500" imgH="80391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67470"/>
            <a:ext cx="16459200" cy="1490514"/>
            <a:chOff x="0" y="0"/>
            <a:chExt cx="21945600" cy="19873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87352"/>
            </a:xfrm>
            <a:custGeom>
              <a:avLst/>
              <a:gdLst/>
              <a:ahLst/>
              <a:cxnLst/>
              <a:rect r="r" b="b" t="t" l="l"/>
              <a:pathLst>
                <a:path h="19873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87352"/>
                  </a:lnTo>
                  <a:lnTo>
                    <a:pt x="0" y="1987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357" r="0" b="-15197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015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FINAL INTEGRATION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3657600" cy="146304"/>
            <a:chOff x="0" y="0"/>
            <a:chExt cx="4876800" cy="195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76800" cy="195072"/>
            </a:xfrm>
            <a:custGeom>
              <a:avLst/>
              <a:gdLst/>
              <a:ahLst/>
              <a:cxnLst/>
              <a:rect r="r" b="b" t="t" l="l"/>
              <a:pathLst>
                <a:path h="1950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3939019" y="2760437"/>
            <a:ext cx="10130827" cy="3786057"/>
          </a:xfrm>
          <a:custGeom>
            <a:avLst/>
            <a:gdLst/>
            <a:ahLst/>
            <a:cxnLst/>
            <a:rect r="r" b="b" t="t" l="l"/>
            <a:pathLst>
              <a:path h="3786057" w="10130827">
                <a:moveTo>
                  <a:pt x="0" y="0"/>
                </a:moveTo>
                <a:lnTo>
                  <a:pt x="10130827" y="0"/>
                </a:lnTo>
                <a:lnTo>
                  <a:pt x="10130827" y="3786057"/>
                </a:lnTo>
                <a:lnTo>
                  <a:pt x="0" y="37860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263" r="0" b="-53124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75756" y="6739315"/>
            <a:ext cx="219456" cy="219456"/>
            <a:chOff x="0" y="0"/>
            <a:chExt cx="292608" cy="2926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77126" y="6546494"/>
            <a:ext cx="10649279" cy="605098"/>
            <a:chOff x="0" y="0"/>
            <a:chExt cx="14199039" cy="8067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99039" cy="806797"/>
            </a:xfrm>
            <a:custGeom>
              <a:avLst/>
              <a:gdLst/>
              <a:ahLst/>
              <a:cxnLst/>
              <a:rect r="r" b="b" t="t" l="l"/>
              <a:pathLst>
                <a:path h="806797" w="14199039">
                  <a:moveTo>
                    <a:pt x="0" y="0"/>
                  </a:moveTo>
                  <a:lnTo>
                    <a:pt x="14199039" y="0"/>
                  </a:lnTo>
                  <a:lnTo>
                    <a:pt x="14199039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60" r="5548" b="-2692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4199039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complete processing pipeline is divided into separate functions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75756" y="7506229"/>
            <a:ext cx="219456" cy="219456"/>
            <a:chOff x="0" y="0"/>
            <a:chExt cx="292608" cy="2926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177126" y="7313408"/>
            <a:ext cx="10649279" cy="605098"/>
            <a:chOff x="0" y="0"/>
            <a:chExt cx="14199039" cy="8067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199039" cy="806797"/>
            </a:xfrm>
            <a:custGeom>
              <a:avLst/>
              <a:gdLst/>
              <a:ahLst/>
              <a:cxnLst/>
              <a:rect r="r" b="b" t="t" l="l"/>
              <a:pathLst>
                <a:path h="806797" w="14199039">
                  <a:moveTo>
                    <a:pt x="0" y="0"/>
                  </a:moveTo>
                  <a:lnTo>
                    <a:pt x="14199039" y="0"/>
                  </a:lnTo>
                  <a:lnTo>
                    <a:pt x="14199039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60" r="5548" b="-26922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4199039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main Pyt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hon file controls and calls all processing functions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75756" y="8273252"/>
            <a:ext cx="219456" cy="219456"/>
            <a:chOff x="0" y="0"/>
            <a:chExt cx="292608" cy="2926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177126" y="8080431"/>
            <a:ext cx="10649279" cy="605098"/>
            <a:chOff x="0" y="0"/>
            <a:chExt cx="14199039" cy="8067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199039" cy="806797"/>
            </a:xfrm>
            <a:custGeom>
              <a:avLst/>
              <a:gdLst/>
              <a:ahLst/>
              <a:cxnLst/>
              <a:rect r="r" b="b" t="t" l="l"/>
              <a:pathLst>
                <a:path h="806797" w="14199039">
                  <a:moveTo>
                    <a:pt x="0" y="0"/>
                  </a:moveTo>
                  <a:lnTo>
                    <a:pt x="14199039" y="0"/>
                  </a:lnTo>
                  <a:lnTo>
                    <a:pt x="14199039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60" r="5548" b="-26922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4199039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frame-by-frame processing is performed sequentially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75756" y="9038844"/>
            <a:ext cx="219456" cy="219456"/>
            <a:chOff x="0" y="0"/>
            <a:chExt cx="292608" cy="2926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177126" y="8846023"/>
            <a:ext cx="10649279" cy="605098"/>
            <a:chOff x="0" y="0"/>
            <a:chExt cx="14199039" cy="80679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199039" cy="806797"/>
            </a:xfrm>
            <a:custGeom>
              <a:avLst/>
              <a:gdLst/>
              <a:ahLst/>
              <a:cxnLst/>
              <a:rect r="r" b="b" t="t" l="l"/>
              <a:pathLst>
                <a:path h="806797" w="14199039">
                  <a:moveTo>
                    <a:pt x="0" y="0"/>
                  </a:moveTo>
                  <a:lnTo>
                    <a:pt x="14199039" y="0"/>
                  </a:lnTo>
                  <a:lnTo>
                    <a:pt x="14199039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60" r="5548" b="-26922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4199039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</a:t>
              </a: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enerates the final detected road damage output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SYSTEM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3657600" cy="146304"/>
            <a:chOff x="0" y="0"/>
            <a:chExt cx="4876800" cy="195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76800" cy="195072"/>
            </a:xfrm>
            <a:custGeom>
              <a:avLst/>
              <a:gdLst/>
              <a:ahLst/>
              <a:cxnLst/>
              <a:rect r="r" b="b" t="t" l="l"/>
              <a:pathLst>
                <a:path h="1950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58898" y="2754029"/>
            <a:ext cx="15570203" cy="1427665"/>
            <a:chOff x="0" y="0"/>
            <a:chExt cx="22013329" cy="20184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3909" y="33909"/>
              <a:ext cx="21945601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1">
                  <a:moveTo>
                    <a:pt x="0" y="0"/>
                  </a:moveTo>
                  <a:lnTo>
                    <a:pt x="21945601" y="0"/>
                  </a:lnTo>
                  <a:lnTo>
                    <a:pt x="21945601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13418" cy="2018538"/>
            </a:xfrm>
            <a:custGeom>
              <a:avLst/>
              <a:gdLst/>
              <a:ahLst/>
              <a:cxnLst/>
              <a:rect r="r" b="b" t="t" l="l"/>
              <a:pathLst>
                <a:path h="2018538" w="22013418">
                  <a:moveTo>
                    <a:pt x="33909" y="0"/>
                  </a:moveTo>
                  <a:lnTo>
                    <a:pt x="21979510" y="0"/>
                  </a:lnTo>
                  <a:cubicBezTo>
                    <a:pt x="21998178" y="0"/>
                    <a:pt x="22013418" y="15113"/>
                    <a:pt x="22013418" y="33909"/>
                  </a:cubicBezTo>
                  <a:lnTo>
                    <a:pt x="22013418" y="1984629"/>
                  </a:lnTo>
                  <a:cubicBezTo>
                    <a:pt x="22013418" y="2003298"/>
                    <a:pt x="21998305" y="2018538"/>
                    <a:pt x="21979510" y="2018538"/>
                  </a:cubicBezTo>
                  <a:lnTo>
                    <a:pt x="33909" y="2018538"/>
                  </a:lnTo>
                  <a:cubicBezTo>
                    <a:pt x="15240" y="2018538"/>
                    <a:pt x="0" y="2003425"/>
                    <a:pt x="0" y="198462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1984629"/>
                  </a:lnTo>
                  <a:lnTo>
                    <a:pt x="33909" y="1984629"/>
                  </a:lnTo>
                  <a:lnTo>
                    <a:pt x="33909" y="1950720"/>
                  </a:lnTo>
                  <a:lnTo>
                    <a:pt x="21979510" y="1950720"/>
                  </a:lnTo>
                  <a:lnTo>
                    <a:pt x="21979510" y="1984629"/>
                  </a:lnTo>
                  <a:lnTo>
                    <a:pt x="21945600" y="1984629"/>
                  </a:lnTo>
                  <a:lnTo>
                    <a:pt x="21945600" y="33909"/>
                  </a:lnTo>
                  <a:lnTo>
                    <a:pt x="21979510" y="33909"/>
                  </a:lnTo>
                  <a:lnTo>
                    <a:pt x="219795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98702" y="3145193"/>
            <a:ext cx="14630400" cy="731520"/>
            <a:chOff x="0" y="0"/>
            <a:chExt cx="1950720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975360"/>
            </a:xfrm>
            <a:custGeom>
              <a:avLst/>
              <a:gdLst/>
              <a:ahLst/>
              <a:cxnLst/>
              <a:rect r="r" b="b" t="t" l="l"/>
              <a:pathLst>
                <a:path h="9753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950720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ACCURATE DETECTION OF MAJOR DAMAGES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37637" y="5460997"/>
            <a:ext cx="4622797" cy="3708397"/>
            <a:chOff x="0" y="0"/>
            <a:chExt cx="6163729" cy="49445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3909" y="33909"/>
              <a:ext cx="60960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/>
              <a:stretch>
                <a:fillRect l="-3398" t="0" r="-3398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63818" cy="4944618"/>
            </a:xfrm>
            <a:custGeom>
              <a:avLst/>
              <a:gdLst/>
              <a:ahLst/>
              <a:cxnLst/>
              <a:rect r="r" b="b" t="t" l="l"/>
              <a:pathLst>
                <a:path h="4944618" w="6163818">
                  <a:moveTo>
                    <a:pt x="33909" y="0"/>
                  </a:moveTo>
                  <a:lnTo>
                    <a:pt x="6129909" y="0"/>
                  </a:lnTo>
                  <a:cubicBezTo>
                    <a:pt x="6148578" y="0"/>
                    <a:pt x="6163818" y="15113"/>
                    <a:pt x="6163818" y="33909"/>
                  </a:cubicBezTo>
                  <a:lnTo>
                    <a:pt x="6163818" y="4910709"/>
                  </a:lnTo>
                  <a:cubicBezTo>
                    <a:pt x="6163818" y="4929378"/>
                    <a:pt x="6148705" y="4944618"/>
                    <a:pt x="6129909" y="4944618"/>
                  </a:cubicBezTo>
                  <a:lnTo>
                    <a:pt x="33909" y="4944618"/>
                  </a:lnTo>
                  <a:cubicBezTo>
                    <a:pt x="15240" y="4944618"/>
                    <a:pt x="0" y="4929505"/>
                    <a:pt x="0" y="49107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4910709"/>
                  </a:lnTo>
                  <a:lnTo>
                    <a:pt x="33909" y="4910709"/>
                  </a:lnTo>
                  <a:lnTo>
                    <a:pt x="33909" y="4876800"/>
                  </a:lnTo>
                  <a:lnTo>
                    <a:pt x="6129909" y="4876800"/>
                  </a:lnTo>
                  <a:lnTo>
                    <a:pt x="6129909" y="4910709"/>
                  </a:lnTo>
                  <a:lnTo>
                    <a:pt x="6096000" y="4910709"/>
                  </a:lnTo>
                  <a:lnTo>
                    <a:pt x="6096000" y="33909"/>
                  </a:lnTo>
                  <a:lnTo>
                    <a:pt x="6129909" y="33909"/>
                  </a:lnTo>
                  <a:lnTo>
                    <a:pt x="61299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741157" y="5460997"/>
            <a:ext cx="4622797" cy="3708397"/>
            <a:chOff x="0" y="0"/>
            <a:chExt cx="6163729" cy="49445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3909" y="33909"/>
              <a:ext cx="60960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4"/>
              <a:stretch>
                <a:fillRect l="-3398" t="0" r="-3398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63818" cy="4944618"/>
            </a:xfrm>
            <a:custGeom>
              <a:avLst/>
              <a:gdLst/>
              <a:ahLst/>
              <a:cxnLst/>
              <a:rect r="r" b="b" t="t" l="l"/>
              <a:pathLst>
                <a:path h="4944618" w="6163818">
                  <a:moveTo>
                    <a:pt x="33909" y="0"/>
                  </a:moveTo>
                  <a:lnTo>
                    <a:pt x="6129909" y="0"/>
                  </a:lnTo>
                  <a:cubicBezTo>
                    <a:pt x="6148578" y="0"/>
                    <a:pt x="6163818" y="15113"/>
                    <a:pt x="6163818" y="33909"/>
                  </a:cubicBezTo>
                  <a:lnTo>
                    <a:pt x="6163818" y="4910709"/>
                  </a:lnTo>
                  <a:cubicBezTo>
                    <a:pt x="6163818" y="4929378"/>
                    <a:pt x="6148705" y="4944618"/>
                    <a:pt x="6129909" y="4944618"/>
                  </a:cubicBezTo>
                  <a:lnTo>
                    <a:pt x="33909" y="4944618"/>
                  </a:lnTo>
                  <a:cubicBezTo>
                    <a:pt x="15240" y="4944618"/>
                    <a:pt x="0" y="4929505"/>
                    <a:pt x="0" y="49107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4910709"/>
                  </a:lnTo>
                  <a:lnTo>
                    <a:pt x="33909" y="4910709"/>
                  </a:lnTo>
                  <a:lnTo>
                    <a:pt x="33909" y="4876800"/>
                  </a:lnTo>
                  <a:lnTo>
                    <a:pt x="6129909" y="4876800"/>
                  </a:lnTo>
                  <a:lnTo>
                    <a:pt x="6129909" y="4910709"/>
                  </a:lnTo>
                  <a:lnTo>
                    <a:pt x="6096000" y="4910709"/>
                  </a:lnTo>
                  <a:lnTo>
                    <a:pt x="6096000" y="33909"/>
                  </a:lnTo>
                  <a:lnTo>
                    <a:pt x="6129909" y="33909"/>
                  </a:lnTo>
                  <a:lnTo>
                    <a:pt x="61299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44677" y="5460997"/>
            <a:ext cx="4622797" cy="3708397"/>
            <a:chOff x="0" y="0"/>
            <a:chExt cx="6163729" cy="49445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33909" y="33909"/>
              <a:ext cx="60960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5"/>
              <a:stretch>
                <a:fillRect l="-3398" t="0" r="-3398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63818" cy="4944618"/>
            </a:xfrm>
            <a:custGeom>
              <a:avLst/>
              <a:gdLst/>
              <a:ahLst/>
              <a:cxnLst/>
              <a:rect r="r" b="b" t="t" l="l"/>
              <a:pathLst>
                <a:path h="4944618" w="6163818">
                  <a:moveTo>
                    <a:pt x="33909" y="0"/>
                  </a:moveTo>
                  <a:lnTo>
                    <a:pt x="6129909" y="0"/>
                  </a:lnTo>
                  <a:cubicBezTo>
                    <a:pt x="6148578" y="0"/>
                    <a:pt x="6163818" y="15113"/>
                    <a:pt x="6163818" y="33909"/>
                  </a:cubicBezTo>
                  <a:lnTo>
                    <a:pt x="6163818" y="4910709"/>
                  </a:lnTo>
                  <a:cubicBezTo>
                    <a:pt x="6163818" y="4929378"/>
                    <a:pt x="6148705" y="4944618"/>
                    <a:pt x="6129909" y="4944618"/>
                  </a:cubicBezTo>
                  <a:lnTo>
                    <a:pt x="33909" y="4944618"/>
                  </a:lnTo>
                  <a:cubicBezTo>
                    <a:pt x="15240" y="4944618"/>
                    <a:pt x="0" y="4929505"/>
                    <a:pt x="0" y="49107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4910709"/>
                  </a:lnTo>
                  <a:lnTo>
                    <a:pt x="33909" y="4910709"/>
                  </a:lnTo>
                  <a:lnTo>
                    <a:pt x="33909" y="4876800"/>
                  </a:lnTo>
                  <a:lnTo>
                    <a:pt x="6129909" y="4876800"/>
                  </a:lnTo>
                  <a:lnTo>
                    <a:pt x="6129909" y="4910709"/>
                  </a:lnTo>
                  <a:lnTo>
                    <a:pt x="6096000" y="4910709"/>
                  </a:lnTo>
                  <a:lnTo>
                    <a:pt x="6096000" y="33909"/>
                  </a:lnTo>
                  <a:lnTo>
                    <a:pt x="6129909" y="33909"/>
                  </a:lnTo>
                  <a:lnTo>
                    <a:pt x="61299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88434" y="4777740"/>
            <a:ext cx="4572000" cy="731520"/>
            <a:chOff x="0" y="0"/>
            <a:chExt cx="609600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96000" cy="975360"/>
            </a:xfrm>
            <a:custGeom>
              <a:avLst/>
              <a:gdLst/>
              <a:ahLst/>
              <a:cxnLst/>
              <a:rect r="r" b="b" t="t" l="l"/>
              <a:pathLst>
                <a:path h="9753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0960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Edge Cracking 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62931" y="4777740"/>
            <a:ext cx="4572000" cy="731520"/>
            <a:chOff x="0" y="0"/>
            <a:chExt cx="609600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96000" cy="975360"/>
            </a:xfrm>
            <a:custGeom>
              <a:avLst/>
              <a:gdLst/>
              <a:ahLst/>
              <a:cxnLst/>
              <a:rect r="r" b="b" t="t" l="l"/>
              <a:pathLst>
                <a:path h="9753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0960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Alligator Cracking 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40229" y="4777740"/>
            <a:ext cx="4572000" cy="731520"/>
            <a:chOff x="0" y="0"/>
            <a:chExt cx="6096000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96000" cy="975360"/>
            </a:xfrm>
            <a:custGeom>
              <a:avLst/>
              <a:gdLst/>
              <a:ahLst/>
              <a:cxnLst/>
              <a:rect r="r" b="b" t="t" l="l"/>
              <a:pathLst>
                <a:path h="9753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0960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Transvers Cracking 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3657600" cy="146304"/>
            <a:chOff x="0" y="0"/>
            <a:chExt cx="4876800" cy="1950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76800" cy="195072"/>
            </a:xfrm>
            <a:custGeom>
              <a:avLst/>
              <a:gdLst/>
              <a:ahLst/>
              <a:cxnLst/>
              <a:rect r="r" b="b" t="t" l="l"/>
              <a:pathLst>
                <a:path h="1950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63040" y="3803904"/>
            <a:ext cx="199880" cy="219456"/>
            <a:chOff x="0" y="0"/>
            <a:chExt cx="266506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6506" cy="292608"/>
            </a:xfrm>
            <a:custGeom>
              <a:avLst/>
              <a:gdLst/>
              <a:ahLst/>
              <a:cxnLst/>
              <a:rect r="r" b="b" t="t" l="l"/>
              <a:pathLst>
                <a:path h="292608" w="266506">
                  <a:moveTo>
                    <a:pt x="0" y="146304"/>
                  </a:moveTo>
                  <a:cubicBezTo>
                    <a:pt x="0" y="65532"/>
                    <a:pt x="59686" y="0"/>
                    <a:pt x="133253" y="0"/>
                  </a:cubicBezTo>
                  <a:cubicBezTo>
                    <a:pt x="206820" y="0"/>
                    <a:pt x="266506" y="65532"/>
                    <a:pt x="266506" y="146304"/>
                  </a:cubicBezTo>
                  <a:cubicBezTo>
                    <a:pt x="266506" y="227076"/>
                    <a:pt x="206820" y="292608"/>
                    <a:pt x="133253" y="292608"/>
                  </a:cubicBezTo>
                  <a:cubicBezTo>
                    <a:pt x="59686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962740" y="3629371"/>
            <a:ext cx="9161158" cy="605098"/>
            <a:chOff x="0" y="0"/>
            <a:chExt cx="12214878" cy="8067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214878" cy="806797"/>
            </a:xfrm>
            <a:custGeom>
              <a:avLst/>
              <a:gdLst/>
              <a:ahLst/>
              <a:cxnLst/>
              <a:rect r="r" b="b" t="t" l="l"/>
              <a:pathLst>
                <a:path h="806797" w="12214878">
                  <a:moveTo>
                    <a:pt x="0" y="0"/>
                  </a:moveTo>
                  <a:lnTo>
                    <a:pt x="12214878" y="0"/>
                  </a:lnTo>
                  <a:lnTo>
                    <a:pt x="12214878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60" r="-9793" b="-26922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2214878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Successfully detected road damages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4718304"/>
            <a:ext cx="199880" cy="219456"/>
            <a:chOff x="0" y="0"/>
            <a:chExt cx="266506" cy="2926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6506" cy="292608"/>
            </a:xfrm>
            <a:custGeom>
              <a:avLst/>
              <a:gdLst/>
              <a:ahLst/>
              <a:cxnLst/>
              <a:rect r="r" b="b" t="t" l="l"/>
              <a:pathLst>
                <a:path h="292608" w="266506">
                  <a:moveTo>
                    <a:pt x="0" y="146304"/>
                  </a:moveTo>
                  <a:cubicBezTo>
                    <a:pt x="0" y="65532"/>
                    <a:pt x="59686" y="0"/>
                    <a:pt x="133253" y="0"/>
                  </a:cubicBezTo>
                  <a:cubicBezTo>
                    <a:pt x="206820" y="0"/>
                    <a:pt x="266506" y="65532"/>
                    <a:pt x="266506" y="146304"/>
                  </a:cubicBezTo>
                  <a:cubicBezTo>
                    <a:pt x="266506" y="227076"/>
                    <a:pt x="206820" y="292608"/>
                    <a:pt x="133253" y="292608"/>
                  </a:cubicBezTo>
                  <a:cubicBezTo>
                    <a:pt x="59686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62740" y="4543771"/>
            <a:ext cx="9161158" cy="605098"/>
            <a:chOff x="0" y="0"/>
            <a:chExt cx="12214878" cy="8067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214878" cy="806797"/>
            </a:xfrm>
            <a:custGeom>
              <a:avLst/>
              <a:gdLst/>
              <a:ahLst/>
              <a:cxnLst/>
              <a:rect r="r" b="b" t="t" l="l"/>
              <a:pathLst>
                <a:path h="806797" w="12214878">
                  <a:moveTo>
                    <a:pt x="0" y="0"/>
                  </a:moveTo>
                  <a:lnTo>
                    <a:pt x="12214878" y="0"/>
                  </a:lnTo>
                  <a:lnTo>
                    <a:pt x="12214878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60" r="-9793" b="-2692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2214878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Image processing approach is effective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3040" y="5632704"/>
            <a:ext cx="199880" cy="219456"/>
            <a:chOff x="0" y="0"/>
            <a:chExt cx="266506" cy="2926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6506" cy="292608"/>
            </a:xfrm>
            <a:custGeom>
              <a:avLst/>
              <a:gdLst/>
              <a:ahLst/>
              <a:cxnLst/>
              <a:rect r="r" b="b" t="t" l="l"/>
              <a:pathLst>
                <a:path h="292608" w="266506">
                  <a:moveTo>
                    <a:pt x="0" y="146304"/>
                  </a:moveTo>
                  <a:cubicBezTo>
                    <a:pt x="0" y="65532"/>
                    <a:pt x="59686" y="0"/>
                    <a:pt x="133253" y="0"/>
                  </a:cubicBezTo>
                  <a:cubicBezTo>
                    <a:pt x="206820" y="0"/>
                    <a:pt x="266506" y="65532"/>
                    <a:pt x="266506" y="146304"/>
                  </a:cubicBezTo>
                  <a:cubicBezTo>
                    <a:pt x="266506" y="227076"/>
                    <a:pt x="206820" y="292608"/>
                    <a:pt x="133253" y="292608"/>
                  </a:cubicBezTo>
                  <a:cubicBezTo>
                    <a:pt x="59686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962740" y="5458171"/>
            <a:ext cx="9161158" cy="605098"/>
            <a:chOff x="0" y="0"/>
            <a:chExt cx="12214878" cy="8067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214878" cy="806797"/>
            </a:xfrm>
            <a:custGeom>
              <a:avLst/>
              <a:gdLst/>
              <a:ahLst/>
              <a:cxnLst/>
              <a:rect r="r" b="b" t="t" l="l"/>
              <a:pathLst>
                <a:path h="806797" w="12214878">
                  <a:moveTo>
                    <a:pt x="0" y="0"/>
                  </a:moveTo>
                  <a:lnTo>
                    <a:pt x="12214878" y="0"/>
                  </a:lnTo>
                  <a:lnTo>
                    <a:pt x="12214878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60" r="-9793" b="-26922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2214878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Reduces manual inspection effort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63040" y="6547104"/>
            <a:ext cx="199880" cy="219456"/>
            <a:chOff x="0" y="0"/>
            <a:chExt cx="266506" cy="2926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6506" cy="292608"/>
            </a:xfrm>
            <a:custGeom>
              <a:avLst/>
              <a:gdLst/>
              <a:ahLst/>
              <a:cxnLst/>
              <a:rect r="r" b="b" t="t" l="l"/>
              <a:pathLst>
                <a:path h="292608" w="266506">
                  <a:moveTo>
                    <a:pt x="0" y="146304"/>
                  </a:moveTo>
                  <a:cubicBezTo>
                    <a:pt x="0" y="65532"/>
                    <a:pt x="59686" y="0"/>
                    <a:pt x="133253" y="0"/>
                  </a:cubicBezTo>
                  <a:cubicBezTo>
                    <a:pt x="206820" y="0"/>
                    <a:pt x="266506" y="65532"/>
                    <a:pt x="266506" y="146304"/>
                  </a:cubicBezTo>
                  <a:cubicBezTo>
                    <a:pt x="266506" y="227076"/>
                    <a:pt x="206820" y="292608"/>
                    <a:pt x="133253" y="292608"/>
                  </a:cubicBezTo>
                  <a:cubicBezTo>
                    <a:pt x="59686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962740" y="6372571"/>
            <a:ext cx="9161158" cy="605098"/>
            <a:chOff x="0" y="0"/>
            <a:chExt cx="12214878" cy="8067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214878" cy="806797"/>
            </a:xfrm>
            <a:custGeom>
              <a:avLst/>
              <a:gdLst/>
              <a:ahLst/>
              <a:cxnLst/>
              <a:rect r="r" b="b" t="t" l="l"/>
              <a:pathLst>
                <a:path h="806797" w="12214878">
                  <a:moveTo>
                    <a:pt x="0" y="0"/>
                  </a:moveTo>
                  <a:lnTo>
                    <a:pt x="12214878" y="0"/>
                  </a:lnTo>
                  <a:lnTo>
                    <a:pt x="12214878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60" r="-9793" b="-26922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12214878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Provides a base for future improvements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63040" y="7461504"/>
            <a:ext cx="199880" cy="219456"/>
            <a:chOff x="0" y="0"/>
            <a:chExt cx="266506" cy="2926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6506" cy="292608"/>
            </a:xfrm>
            <a:custGeom>
              <a:avLst/>
              <a:gdLst/>
              <a:ahLst/>
              <a:cxnLst/>
              <a:rect r="r" b="b" t="t" l="l"/>
              <a:pathLst>
                <a:path h="292608" w="266506">
                  <a:moveTo>
                    <a:pt x="0" y="146304"/>
                  </a:moveTo>
                  <a:cubicBezTo>
                    <a:pt x="0" y="65532"/>
                    <a:pt x="59686" y="0"/>
                    <a:pt x="133253" y="0"/>
                  </a:cubicBezTo>
                  <a:cubicBezTo>
                    <a:pt x="206820" y="0"/>
                    <a:pt x="266506" y="65532"/>
                    <a:pt x="266506" y="146304"/>
                  </a:cubicBezTo>
                  <a:cubicBezTo>
                    <a:pt x="266506" y="227076"/>
                    <a:pt x="206820" y="292608"/>
                    <a:pt x="133253" y="292608"/>
                  </a:cubicBezTo>
                  <a:cubicBezTo>
                    <a:pt x="59686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962740" y="7286971"/>
            <a:ext cx="9161158" cy="605098"/>
            <a:chOff x="0" y="0"/>
            <a:chExt cx="12214878" cy="80679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214878" cy="806797"/>
            </a:xfrm>
            <a:custGeom>
              <a:avLst/>
              <a:gdLst/>
              <a:ahLst/>
              <a:cxnLst/>
              <a:rect r="r" b="b" t="t" l="l"/>
              <a:pathLst>
                <a:path h="806797" w="12214878">
                  <a:moveTo>
                    <a:pt x="0" y="0"/>
                  </a:moveTo>
                  <a:lnTo>
                    <a:pt x="12214878" y="0"/>
                  </a:lnTo>
                  <a:lnTo>
                    <a:pt x="12214878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560" r="-9793" b="-26922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2214878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 be enhanced using AI techniques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931898" y="3540757"/>
            <a:ext cx="5441702" cy="4323083"/>
            <a:chOff x="0" y="0"/>
            <a:chExt cx="7255603" cy="57641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28601" y="39530"/>
              <a:ext cx="7198476" cy="5685155"/>
            </a:xfrm>
            <a:custGeom>
              <a:avLst/>
              <a:gdLst/>
              <a:ahLst/>
              <a:cxnLst/>
              <a:rect r="r" b="b" t="t" l="l"/>
              <a:pathLst>
                <a:path h="5685155" w="7198476">
                  <a:moveTo>
                    <a:pt x="0" y="0"/>
                  </a:moveTo>
                  <a:lnTo>
                    <a:pt x="7198476" y="0"/>
                  </a:lnTo>
                  <a:lnTo>
                    <a:pt x="7198476" y="5685155"/>
                  </a:lnTo>
                  <a:lnTo>
                    <a:pt x="0" y="5685155"/>
                  </a:ln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55693" cy="5764200"/>
            </a:xfrm>
            <a:custGeom>
              <a:avLst/>
              <a:gdLst/>
              <a:ahLst/>
              <a:cxnLst/>
              <a:rect r="r" b="b" t="t" l="l"/>
              <a:pathLst>
                <a:path h="5764200" w="7255693">
                  <a:moveTo>
                    <a:pt x="28601" y="0"/>
                  </a:moveTo>
                  <a:lnTo>
                    <a:pt x="7227077" y="0"/>
                  </a:lnTo>
                  <a:cubicBezTo>
                    <a:pt x="7242824" y="0"/>
                    <a:pt x="7255693" y="17618"/>
                    <a:pt x="7255693" y="39530"/>
                  </a:cubicBezTo>
                  <a:lnTo>
                    <a:pt x="7255693" y="5724685"/>
                  </a:lnTo>
                  <a:cubicBezTo>
                    <a:pt x="7255693" y="5746448"/>
                    <a:pt x="7242932" y="5764200"/>
                    <a:pt x="7227077" y="5764200"/>
                  </a:cubicBezTo>
                  <a:lnTo>
                    <a:pt x="28601" y="5764200"/>
                  </a:lnTo>
                  <a:cubicBezTo>
                    <a:pt x="12854" y="5764200"/>
                    <a:pt x="0" y="5746597"/>
                    <a:pt x="0" y="5724685"/>
                  </a:cubicBezTo>
                  <a:lnTo>
                    <a:pt x="0" y="39530"/>
                  </a:lnTo>
                  <a:cubicBezTo>
                    <a:pt x="0" y="17618"/>
                    <a:pt x="12747" y="0"/>
                    <a:pt x="28601" y="0"/>
                  </a:cubicBezTo>
                  <a:moveTo>
                    <a:pt x="28601" y="78911"/>
                  </a:moveTo>
                  <a:lnTo>
                    <a:pt x="28601" y="39530"/>
                  </a:lnTo>
                  <a:lnTo>
                    <a:pt x="57095" y="39530"/>
                  </a:lnTo>
                  <a:lnTo>
                    <a:pt x="57095" y="5724685"/>
                  </a:lnTo>
                  <a:lnTo>
                    <a:pt x="28601" y="5724685"/>
                  </a:lnTo>
                  <a:lnTo>
                    <a:pt x="28601" y="5685155"/>
                  </a:lnTo>
                  <a:lnTo>
                    <a:pt x="7227077" y="5685155"/>
                  </a:lnTo>
                  <a:lnTo>
                    <a:pt x="7227077" y="5724685"/>
                  </a:lnTo>
                  <a:lnTo>
                    <a:pt x="7198476" y="5724685"/>
                  </a:lnTo>
                  <a:lnTo>
                    <a:pt x="7198476" y="39530"/>
                  </a:lnTo>
                  <a:lnTo>
                    <a:pt x="7227077" y="39530"/>
                  </a:lnTo>
                  <a:lnTo>
                    <a:pt x="7227077" y="78911"/>
                  </a:lnTo>
                  <a:lnTo>
                    <a:pt x="28601" y="78911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12719871" y="3849624"/>
            <a:ext cx="3865756" cy="3566160"/>
          </a:xfrm>
          <a:custGeom>
            <a:avLst/>
            <a:gdLst/>
            <a:ahLst/>
            <a:cxnLst/>
            <a:rect r="r" b="b" t="t" l="l"/>
            <a:pathLst>
              <a:path h="3566160" w="3865756">
                <a:moveTo>
                  <a:pt x="0" y="0"/>
                </a:moveTo>
                <a:lnTo>
                  <a:pt x="3865756" y="0"/>
                </a:lnTo>
                <a:lnTo>
                  <a:pt x="3865756" y="3566160"/>
                </a:lnTo>
                <a:lnTo>
                  <a:pt x="0" y="35661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2857500"/>
            <a:ext cx="18288000" cy="4572000"/>
            <a:chOff x="0" y="0"/>
            <a:chExt cx="24384000" cy="609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2D2D2D">
                <a:alpha val="48627"/>
              </a:srgbClr>
            </a:solidFill>
          </p:spPr>
        </p:sp>
      </p:grpSp>
      <p:sp>
        <p:nvSpPr>
          <p:cNvPr name="AutoShape 6" id="6"/>
          <p:cNvSpPr/>
          <p:nvPr/>
        </p:nvSpPr>
        <p:spPr>
          <a:xfrm>
            <a:off x="4515505" y="4049104"/>
            <a:ext cx="9256990" cy="0"/>
          </a:xfrm>
          <a:prstGeom prst="line">
            <a:avLst/>
          </a:prstGeom>
          <a:ln cap="flat" w="28575">
            <a:solidFill>
              <a:srgbClr val="F271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515505" y="6237896"/>
            <a:ext cx="9256990" cy="0"/>
          </a:xfrm>
          <a:prstGeom prst="line">
            <a:avLst/>
          </a:prstGeom>
          <a:ln cap="flat" w="28575">
            <a:solidFill>
              <a:srgbClr val="F271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695943" y="4034817"/>
            <a:ext cx="12896114" cy="194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20"/>
              </a:lnSpc>
            </a:pPr>
            <a:r>
              <a:rPr lang="en-US" sz="11300" spc="40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DAHJXn0WhNs</dc:identifier>
  <dcterms:modified xsi:type="dcterms:W3CDTF">2011-08-01T06:04:30Z</dcterms:modified>
  <cp:revision>1</cp:revision>
  <dc:title>Copy of METHODOLOGY</dc:title>
</cp:coreProperties>
</file>